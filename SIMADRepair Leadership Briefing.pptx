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Hanken Grotesk" pitchFamily="34" charset="0"/>
      <p:regular r:id="rId25"/>
      <p:bold r:id="rId2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font" Target="fonts/font1.fntdata"/><Relationship Id="rId26"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platform: SIMADRepair is the system the Faculty of Computing built to run the Computer Maintenance Program, from online registration to handing every laptop back. The photo is from a previous program on Main Campus.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as it appears on the official poster: two days, Main Campus, five free services. Students fixing laptops for students. The platform exists to make these two days run smoothly and to show leadership exactly what was delivered.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why. The old system had sequential codes anyone could guess, pickup without checking ID, one free-text box for the problem, no updates for students and no report. Each row shows the change. The highlighted row, pickup by university ID card, removes the biggest real-world risk: a laptop handed to the wrong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platform for everyone. Students register and track without an account. Three staff roles — lead desk, volunteer technicians and admin — work on the same records. The program's settings (dates, venue, hours, desk WhatsApp) drive everything the public 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lanes left to right: register, drop-off and check-in with a tag number, claim and repair, ready with a WhatsApp message, hand-over against the ID card, rating. Everything rolls up into the event report for the admin. No handover happens outside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account needed. A student fills a short form (university ID, WhatsApp number, device details, the problem with guided questions, up to 3 photos) and gets a tracking code. The tracking page shows the status in plain words, what to buy if a part is needed, and the technician's WhatsApp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low point for students is the queue at drop-off. We designed for it: desk registration for walk-ins and a check-in that takes about 30 seconds with a tag sticker. Lost your code? Find my request with your university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lead technician runs the desk from one board: waiting drop-off, to assign, in repair, blocked, ready for pickup and collected today. Walk-ins are registered at the desk. Every action can be undone with a reason, and at the end of the event uncollected devices move to the IT office in one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Check-in is the most important step: ID card checked, existing damage photographed, the device password stored encrypted, and a tag number written on a sticker. From there the device is never lost track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 technicians work from their phone. They see the device specs, the student's answers and photos before they start. A device cannot be marked ready without recording what was wrong, what was done, and passing the quick tests — so the report knows what was actually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status system for every repair. Waiting for a part, waiting for the student, cancelled and cannot be repaired are all visible to the student instead of hiding behind “in repair”. “Cannot be repaired” needs the lead to confirm, and every device ends collected.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in the report is computed from the tickets themselves — nothing is typed in by hand. The screenshot shows test data; the real report is produced after 27–28 October. The PDF fits one page and compares with previous programs once there are 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 sets the event up once: dates, venue, hours, desk WhatsApp and volunteers. Registration opens and closes by itself, volunteer accounts expire after the event, and personal data is erased automatically twelve months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hand over laptops with their files and passwords, so trust matters. Photos are private and only staff can see them. Every step is logged with the person and their reason, and personal details are erased automatically twelve months after the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This is the change in one sentence: from paper and memory to a record the university can trust and report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the left is built and tested end to end. The right column is setup, not development: a few settings, the volunteer list, and getting the link to students — for example through SIMAD’s social channels and a QR code next to the poster. Ask leadership for help sharing the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four engineers who built the platform, and thank the student volunteers who run the desk and do the repairs during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website live if there is time: show the home page, register a test request, and track it. Replace [website link] with the live address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C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786818"/>
            <a:ext cx="5461000" cy="877729"/>
          </a:xfrm>
          <a:prstGeom prst="rect">
            <a:avLst/>
          </a:prstGeom>
          <a:noFill/>
          <a:ln/>
        </p:spPr>
        <p:txBody>
          <a:bodyPr wrap="square" lIns="0" tIns="0" rIns="0" bIns="0" rtlCol="0" anchor="t"/>
          <a:lstStyle>
            <a:lvl1pPr algn="l" indent="0" marL="0">
              <a:lnSpc>
                <a:spcPct val="115000"/>
              </a:lnSpc>
              <a:buNone/>
              <a:defRPr lang="en-US" sz="3200" dirty="0">
                <a:solidFill>
                  <a:srgbClr val="141A17"/>
                </a:solidFill>
                <a:latin typeface="Hanken Grotesk" pitchFamily="34" charset="0"/>
                <a:ea typeface="Hanken Grotesk" pitchFamily="34" charset="-122"/>
                <a:cs typeface="Hanken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969347"/>
            <a:ext cx="10566400" cy="3075853"/>
          </a:xfrm>
          <a:prstGeom prst="rect">
            <a:avLst/>
          </a:prstGeom>
          <a:noFill/>
          <a:ln/>
        </p:spPr>
        <p:txBody>
          <a:bodyPr wrap="square" lIns="0" tIns="0" rIns="0" bIns="0" rtlCol="0" anchor="t"/>
          <a:lstStyle>
            <a:lvl1pPr algn="l" indent="0" marL="0">
              <a:lnSpc>
                <a:spcPct val="140000"/>
              </a:lnSpc>
              <a:buNone/>
              <a:defRPr lang="en-US" sz="1600" dirty="0">
                <a:solidFill>
                  <a:srgbClr val="6B7770"/>
                </a:solidFill>
                <a:latin typeface="IBM Plex Mono" pitchFamily="34" charset="0"/>
                <a:ea typeface="IBM Plex Mono" pitchFamily="34" charset="-122"/>
                <a:cs typeface="IBM Plex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C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786818"/>
            <a:ext cx="5461000" cy="877729"/>
          </a:xfrm>
          <a:prstGeom prst="rect">
            <a:avLst/>
          </a:prstGeom>
          <a:noFill/>
          <a:ln/>
        </p:spPr>
        <p:txBody>
          <a:bodyPr wrap="square" lIns="0" tIns="0" rIns="0" bIns="0" rtlCol="0" anchor="t"/>
          <a:lstStyle>
            <a:lvl1pPr algn="l" indent="0" marL="0">
              <a:lnSpc>
                <a:spcPct val="115000"/>
              </a:lnSpc>
              <a:buNone/>
              <a:defRPr lang="en-US" sz="3200" dirty="0">
                <a:solidFill>
                  <a:srgbClr val="141A17"/>
                </a:solidFill>
                <a:latin typeface="Hanken Grotesk" pitchFamily="34" charset="0"/>
                <a:ea typeface="Hanken Grotesk" pitchFamily="34" charset="-122"/>
                <a:cs typeface="Hanken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969347"/>
            <a:ext cx="10566400" cy="3075853"/>
          </a:xfrm>
          <a:prstGeom prst="rect">
            <a:avLst/>
          </a:prstGeom>
          <a:noFill/>
          <a:ln/>
        </p:spPr>
        <p:txBody>
          <a:bodyPr wrap="square" lIns="0" tIns="0" rIns="0" bIns="0" rtlCol="0" anchor="t"/>
          <a:lstStyle>
            <a:lvl1pPr algn="l" indent="0" marL="0">
              <a:lnSpc>
                <a:spcPct val="140000"/>
              </a:lnSpc>
              <a:buNone/>
              <a:defRPr lang="en-US" sz="1600" dirty="0">
                <a:solidFill>
                  <a:srgbClr val="6B7770"/>
                </a:solidFill>
                <a:latin typeface="IBM Plex Mono" pitchFamily="34" charset="0"/>
                <a:ea typeface="IBM Plex Mono" pitchFamily="34" charset="-122"/>
                <a:cs typeface="IBM Plex Mon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jpe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2.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slideLayout" Target="../slideLayouts/slideLayout2.xml"/><Relationship Id="rId1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image" Target="../media/image-17-2.jpeg"/><Relationship Id="rId3" Type="http://schemas.openxmlformats.org/officeDocument/2006/relationships/image" Target="../media/image-17-3.jpeg"/><Relationship Id="rId4" Type="http://schemas.openxmlformats.org/officeDocument/2006/relationships/image" Target="../media/image-17-4.jpeg"/><Relationship Id="rId5" Type="http://schemas.openxmlformats.org/officeDocument/2006/relationships/image" Target="../media/image-17-5.jpeg"/><Relationship Id="rId6" Type="http://schemas.openxmlformats.org/officeDocument/2006/relationships/slideLayout" Target="../slideLayouts/slideLayout2.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1C"/>
        </a:solidFill>
      </p:bgPr>
    </p:bg>
    <p:spTree>
      <p:nvGrpSpPr>
        <p:cNvPr id="1" name=""/>
        <p:cNvGrpSpPr/>
        <p:nvPr/>
      </p:nvGrpSpPr>
      <p:grpSpPr>
        <a:xfrm>
          <a:off x="0" y="0"/>
          <a:ext cx="0" cy="0"/>
          <a:chOff x="0" y="0"/>
          <a:chExt cx="0" cy="0"/>
        </a:xfrm>
      </p:grpSpPr>
      <p:pic>
        <p:nvPicPr>
          <p:cNvPr id="2" name="Image 0" descr="Two student volunteers repairing laptops at a previous Computer Maintenance Program">    </p:cNvPr>
          <p:cNvPicPr>
            <a:picLocks noChangeAspect="1"/>
          </p:cNvPicPr>
          <p:nvPr/>
        </p:nvPicPr>
        <p:blipFill>
          <a:blip r:embed="rId1"/>
          <a:srcRect l="0" r="0" t="7786" b="7786"/>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0A5130">
                  <a:alpha val="97000"/>
                </a:srgbClr>
              </a:gs>
              <a:gs pos="48000">
                <a:srgbClr val="0F7A45">
                  <a:alpha val="88000"/>
                </a:srgbClr>
              </a:gs>
              <a:gs pos="100000">
                <a:srgbClr val="0F7A45">
                  <a:alpha val="35000"/>
                </a:srgbClr>
              </a:gs>
            </a:gsLst>
            <a:lin ang="0" scaled="0"/>
          </a:gradFill>
          <a:ln/>
        </p:spPr>
      </p:sp>
      <p:sp>
        <p:nvSpPr>
          <p:cNvPr id="4" name="Text 1"/>
          <p:cNvSpPr/>
          <p:nvPr/>
        </p:nvSpPr>
        <p:spPr>
          <a:xfrm>
            <a:off x="812800" y="3356372"/>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BFE5CF"/>
                </a:solidFill>
                <a:latin typeface="IBM Plex Mono" pitchFamily="49" charset="0"/>
                <a:ea typeface="IBM Plex Mono" pitchFamily="49" charset="-122"/>
                <a:cs typeface="IBM Plex Mono" pitchFamily="49" charset="-120"/>
              </a:rPr>
              <a:t>FACULTY OF COMPUTING · LEADERSHIP BRIEFING</a:t>
            </a:r>
            <a:endParaRPr lang="en-US" sz="1400" dirty="0"/>
          </a:p>
        </p:txBody>
      </p:sp>
      <p:sp>
        <p:nvSpPr>
          <p:cNvPr id="5" name="Text 2"/>
          <p:cNvSpPr/>
          <p:nvPr>
            <p:ph type="title"/>
          </p:nvPr>
        </p:nvSpPr>
        <p:spPr>
          <a:xfrm>
            <a:off x="812800" y="3808492"/>
            <a:ext cx="10883392" cy="880348"/>
          </a:xfrm>
          <a:prstGeom prst="rect">
            <a:avLst/>
          </a:prstGeom>
          <a:noFill/>
          <a:ln/>
        </p:spPr>
        <p:txBody>
          <a:bodyPr wrap="square" lIns="0" tIns="0" rIns="0" bIns="0" rtlCol="0" anchor="t">
            <a:normAutofit/>
          </a:bodyPr>
          <a:lstStyle/>
          <a:p>
            <a:pPr algn="l" indent="0" marL="0">
              <a:lnSpc>
                <a:spcPts val="6732"/>
              </a:lnSpc>
              <a:buNone/>
            </a:pPr>
            <a:r>
              <a:rPr lang="en-US" sz="6600" b="1" i="0" spc="-150" kern="0" dirty="0">
                <a:solidFill>
                  <a:srgbClr val="FBFCFB"/>
                </a:solidFill>
                <a:latin typeface="Hanken Grotesk" pitchFamily="34" charset="0"/>
                <a:ea typeface="Hanken Grotesk" pitchFamily="34" charset="-122"/>
                <a:cs typeface="Hanken Grotesk" pitchFamily="34" charset="-120"/>
              </a:rPr>
              <a:t>SIMADRepair</a:t>
            </a:r>
            <a:endParaRPr lang="en-US" sz="6600" dirty="0"/>
          </a:p>
        </p:txBody>
      </p:sp>
      <p:sp>
        <p:nvSpPr>
          <p:cNvPr id="6" name="Text 3"/>
          <p:cNvSpPr/>
          <p:nvPr/>
        </p:nvSpPr>
        <p:spPr>
          <a:xfrm>
            <a:off x="812800" y="4866640"/>
            <a:ext cx="7194550" cy="75184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E3F2EA"/>
                </a:solidFill>
                <a:latin typeface="Hanken Grotesk" pitchFamily="34" charset="0"/>
                <a:ea typeface="Hanken Grotesk" pitchFamily="34" charset="-122"/>
                <a:cs typeface="Hanken Grotesk" pitchFamily="34" charset="-120"/>
              </a:rPr>
              <a:t>The IT service desk behind the Computer Maintenance Program</a:t>
            </a:r>
            <a:endParaRPr lang="en-US" sz="2200" dirty="0"/>
          </a:p>
        </p:txBody>
      </p:sp>
      <p:sp>
        <p:nvSpPr>
          <p:cNvPr id="7" name="Text 4"/>
          <p:cNvSpPr/>
          <p:nvPr/>
        </p:nvSpPr>
        <p:spPr>
          <a:xfrm>
            <a:off x="812800" y="579628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E5CF"/>
                </a:solidFill>
                <a:latin typeface="IBM Plex Mono" pitchFamily="49" charset="0"/>
                <a:ea typeface="IBM Plex Mono" pitchFamily="49" charset="-122"/>
                <a:cs typeface="IBM Plex Mono" pitchFamily="49" charset="-120"/>
              </a:rPr>
              <a:t>SIMAD University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5"/>
        </a:solidFill>
      </p:bgPr>
    </p:bg>
    <p:spTree>
      <p:nvGrpSpPr>
        <p:cNvPr id="1" name=""/>
        <p:cNvGrpSpPr/>
        <p:nvPr/>
      </p:nvGrpSpPr>
      <p:grpSpPr>
        <a:xfrm>
          <a:off x="0" y="0"/>
          <a:ext cx="0" cy="0"/>
          <a:chOff x="0" y="0"/>
          <a:chExt cx="0" cy="0"/>
        </a:xfrm>
      </p:grpSpPr>
      <p:sp>
        <p:nvSpPr>
          <p:cNvPr id="2" name="Text 0"/>
          <p:cNvSpPr/>
          <p:nvPr/>
        </p:nvSpPr>
        <p:spPr>
          <a:xfrm>
            <a:off x="812800" y="1401683"/>
            <a:ext cx="5886450"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F7A45"/>
                </a:solidFill>
                <a:latin typeface="IBM Plex Mono" pitchFamily="49" charset="0"/>
                <a:ea typeface="IBM Plex Mono" pitchFamily="49" charset="-122"/>
                <a:cs typeface="IBM Plex Mono" pitchFamily="49" charset="-120"/>
              </a:rPr>
              <a:t>THE PROGRAM</a:t>
            </a:r>
            <a:endParaRPr lang="en-US" sz="1200" dirty="0"/>
          </a:p>
        </p:txBody>
      </p:sp>
      <p:sp>
        <p:nvSpPr>
          <p:cNvPr id="3" name="Text 1"/>
          <p:cNvSpPr/>
          <p:nvPr>
            <p:ph type="title"/>
          </p:nvPr>
        </p:nvSpPr>
        <p:spPr>
          <a:xfrm>
            <a:off x="812800" y="1792843"/>
            <a:ext cx="5886450" cy="903129"/>
          </a:xfrm>
          <a:prstGeom prst="rect">
            <a:avLst/>
          </a:prstGeom>
          <a:noFill/>
          <a:ln/>
        </p:spPr>
        <p:txBody>
          <a:bodyPr wrap="square" lIns="0" tIns="0" rIns="0" bIns="0" rtlCol="0" anchor="t">
            <a:normAutofit/>
          </a:bodyPr>
          <a:lstStyle/>
          <a:p>
            <a:pPr algn="l" indent="0" marL="0">
              <a:lnSpc>
                <a:spcPts val="3456"/>
              </a:lnSpc>
              <a:buNone/>
            </a:pPr>
            <a:r>
              <a:rPr lang="en-US" sz="3200" b="1" i="0" spc="-50" kern="0" dirty="0">
                <a:solidFill>
                  <a:srgbClr val="141A17"/>
                </a:solidFill>
                <a:latin typeface="Hanken Grotesk" pitchFamily="34" charset="0"/>
                <a:ea typeface="Hanken Grotesk" pitchFamily="34" charset="-122"/>
                <a:cs typeface="Hanken Grotesk" pitchFamily="34" charset="-120"/>
              </a:rPr>
              <a:t>Computer Maintenance Program 2026</a:t>
            </a:r>
            <a:endParaRPr lang="en-US" sz="3200" dirty="0"/>
          </a:p>
        </p:txBody>
      </p:sp>
      <p:sp>
        <p:nvSpPr>
          <p:cNvPr id="4" name="Text 2"/>
          <p:cNvSpPr/>
          <p:nvPr/>
        </p:nvSpPr>
        <p:spPr>
          <a:xfrm>
            <a:off x="812800" y="2848372"/>
            <a:ext cx="588645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C4A43"/>
                </a:solidFill>
                <a:latin typeface="IBM Plex Mono" pitchFamily="49" charset="0"/>
                <a:ea typeface="IBM Plex Mono" pitchFamily="49" charset="-122"/>
                <a:cs typeface="IBM Plex Mono" pitchFamily="49" charset="-120"/>
              </a:rPr>
              <a:t>27–28 October · Main Campus, SIMAD University</a:t>
            </a:r>
            <a:endParaRPr lang="en-US" sz="1400" dirty="0"/>
          </a:p>
        </p:txBody>
      </p:sp>
      <p:sp>
        <p:nvSpPr>
          <p:cNvPr id="5" name="Text 3"/>
          <p:cNvSpPr/>
          <p:nvPr/>
        </p:nvSpPr>
        <p:spPr>
          <a:xfrm>
            <a:off x="812800" y="3275092"/>
            <a:ext cx="5886450"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C4A43"/>
                </a:solidFill>
                <a:latin typeface="Hanken Grotesk" pitchFamily="34" charset="0"/>
                <a:ea typeface="Hanken Grotesk" pitchFamily="34" charset="-122"/>
                <a:cs typeface="Hanken Grotesk" pitchFamily="34" charset="-120"/>
              </a:rPr>
              <a:t>A free tune-up for every SIMAD student and staff laptop:</a:t>
            </a:r>
            <a:endParaRPr lang="en-US" sz="1500" dirty="0"/>
          </a:p>
        </p:txBody>
      </p:sp>
      <p:sp>
        <p:nvSpPr>
          <p:cNvPr id="6" name="Text 4"/>
          <p:cNvSpPr/>
          <p:nvPr/>
        </p:nvSpPr>
        <p:spPr>
          <a:xfrm>
            <a:off x="864870" y="3729117"/>
            <a:ext cx="5826760" cy="1549400"/>
          </a:xfrm>
          <a:prstGeom prst="rect">
            <a:avLst/>
          </a:prstGeom>
          <a:noFill/>
          <a:ln/>
        </p:spPr>
        <p:txBody>
          <a:bodyPr wrap="square" lIns="0" tIns="0" rIns="0" bIns="0" rtlCol="0" anchor="t">
            <a:normAutofit/>
          </a:bodyPr>
          <a:lstStyle/>
          <a:p>
            <a:pPr algn="l" marL="201930" indent="-201930">
              <a:lnSpc>
                <a:spcPts val="2400"/>
              </a:lnSpc>
              <a:buSzPct val="100000"/>
              <a:buFontTx/>
              <a:buAutoNum type="arabicPeriod" startAt="1"/>
            </a:pPr>
            <a:r>
              <a:rPr lang="en-US" sz="1500" dirty="0">
                <a:solidFill>
                  <a:srgbClr val="141A17"/>
                </a:solidFill>
                <a:latin typeface="Hanken Grotesk" pitchFamily="34" charset="0"/>
                <a:ea typeface="Hanken Grotesk" pitchFamily="34" charset="-122"/>
                <a:cs typeface="Hanken Grotesk" pitchFamily="34" charset="-120"/>
              </a:rPr>
              <a:t>Hardware check and cleaning</a:t>
            </a:r>
            <a:endParaRPr lang="en-US" sz="1500" dirty="0"/>
          </a:p>
          <a:p>
            <a:pPr algn="l" marL="201930" indent="-201930">
              <a:lnSpc>
                <a:spcPts val="2400"/>
              </a:lnSpc>
              <a:buSzPct val="100000"/>
              <a:buFontTx/>
              <a:buAutoNum type="arabicPeriod" startAt="1"/>
            </a:pPr>
            <a:r>
              <a:rPr lang="en-US" sz="1500" dirty="0">
                <a:solidFill>
                  <a:srgbClr val="141A17"/>
                </a:solidFill>
                <a:latin typeface="Hanken Grotesk" pitchFamily="34" charset="0"/>
                <a:ea typeface="Hanken Grotesk" pitchFamily="34" charset="-122"/>
                <a:cs typeface="Hanken Grotesk" pitchFamily="34" charset="-120"/>
              </a:rPr>
              <a:t>Windows installation and software updates</a:t>
            </a:r>
            <a:endParaRPr lang="en-US" sz="1500" dirty="0"/>
          </a:p>
          <a:p>
            <a:pPr algn="l" marL="201930" indent="-201930">
              <a:lnSpc>
                <a:spcPts val="2400"/>
              </a:lnSpc>
              <a:buSzPct val="100000"/>
              <a:buFontTx/>
              <a:buAutoNum type="arabicPeriod" startAt="1"/>
            </a:pPr>
            <a:r>
              <a:rPr lang="en-US" sz="1500" dirty="0">
                <a:solidFill>
                  <a:srgbClr val="141A17"/>
                </a:solidFill>
                <a:latin typeface="Hanken Grotesk" pitchFamily="34" charset="0"/>
                <a:ea typeface="Hanken Grotesk" pitchFamily="34" charset="-122"/>
                <a:cs typeface="Hanken Grotesk" pitchFamily="34" charset="-120"/>
              </a:rPr>
              <a:t>Virus and malware scanning</a:t>
            </a:r>
            <a:endParaRPr lang="en-US" sz="1500" dirty="0"/>
          </a:p>
          <a:p>
            <a:pPr algn="l" marL="201930" indent="-201930">
              <a:lnSpc>
                <a:spcPts val="2400"/>
              </a:lnSpc>
              <a:buSzPct val="100000"/>
              <a:buFontTx/>
              <a:buAutoNum type="arabicPeriod" startAt="1"/>
            </a:pPr>
            <a:r>
              <a:rPr lang="en-US" sz="1500" dirty="0">
                <a:solidFill>
                  <a:srgbClr val="141A17"/>
                </a:solidFill>
                <a:latin typeface="Hanken Grotesk" pitchFamily="34" charset="0"/>
                <a:ea typeface="Hanken Grotesk" pitchFamily="34" charset="-122"/>
                <a:cs typeface="Hanken Grotesk" pitchFamily="34" charset="-120"/>
              </a:rPr>
              <a:t>Data backup assistance</a:t>
            </a:r>
            <a:endParaRPr lang="en-US" sz="1500" dirty="0"/>
          </a:p>
          <a:p>
            <a:pPr algn="l" marL="201930" indent="-201930">
              <a:lnSpc>
                <a:spcPts val="2400"/>
              </a:lnSpc>
              <a:buSzPct val="100000"/>
              <a:buFontTx/>
              <a:buAutoNum type="arabicPeriod" startAt="1"/>
            </a:pPr>
            <a:r>
              <a:rPr lang="en-US" sz="1500" dirty="0">
                <a:solidFill>
                  <a:srgbClr val="141A17"/>
                </a:solidFill>
                <a:latin typeface="Hanken Grotesk" pitchFamily="34" charset="0"/>
                <a:ea typeface="Hanken Grotesk" pitchFamily="34" charset="-122"/>
                <a:cs typeface="Hanken Grotesk" pitchFamily="34" charset="-120"/>
              </a:rPr>
              <a:t>Network connectivity testing</a:t>
            </a:r>
            <a:endParaRPr lang="en-US" sz="1500" dirty="0"/>
          </a:p>
        </p:txBody>
      </p:sp>
      <p:pic>
        <p:nvPicPr>
          <p:cNvPr id="7" name="Image 0" descr="Student volunteers checking laptops at the desk while students wait">    </p:cNvPr>
          <p:cNvPicPr>
            <a:picLocks noChangeAspect="1"/>
          </p:cNvPicPr>
          <p:nvPr/>
        </p:nvPicPr>
        <p:blipFill>
          <a:blip r:embed="rId1"/>
          <a:srcRect l="20104" r="20104" t="0" b="0"/>
          <a:stretch/>
        </p:blipFill>
        <p:spPr>
          <a:xfrm>
            <a:off x="6934200" y="850900"/>
            <a:ext cx="4445000" cy="4953000"/>
          </a:xfrm>
          <a:prstGeom prst="roundRect">
            <a:avLst>
              <a:gd name="adj" fmla="val 3429"/>
            </a:avLst>
          </a:prstGeom>
        </p:spPr>
      </p:pic>
      <p:sp>
        <p:nvSpPr>
          <p:cNvPr id="8" name="Text 5"/>
          <p:cNvSpPr/>
          <p:nvPr/>
        </p:nvSpPr>
        <p:spPr>
          <a:xfrm>
            <a:off x="812800" y="6238241"/>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70"/>
                </a:solidFill>
                <a:latin typeface="IBM Plex Mono" pitchFamily="49" charset="0"/>
                <a:ea typeface="IBM Plex Mono" pitchFamily="49" charset="-122"/>
                <a:cs typeface="IBM Plex Mono" pitchFamily="49" charset="-120"/>
              </a:rPr>
              <a:t>SIMADRepair · Faculty of Computing</a:t>
            </a:r>
            <a:endParaRPr lang="en-US" sz="1200" dirty="0"/>
          </a:p>
        </p:txBody>
      </p:sp>
      <p:sp>
        <p:nvSpPr>
          <p:cNvPr id="9" name="Text 6"/>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770"/>
                </a:solidFill>
                <a:latin typeface="IBM Plex Mono" pitchFamily="49" charset="0"/>
                <a:ea typeface="IBM Plex Mono" pitchFamily="49" charset="-122"/>
                <a:cs typeface="IBM Plex Mono"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CFB"/>
        </a:solidFill>
      </p:bgPr>
    </p:bg>
    <p:spTree>
      <p:nvGrpSpPr>
        <p:cNvPr id="1" name=""/>
        <p:cNvGrpSpPr/>
        <p:nvPr/>
      </p:nvGrpSpPr>
      <p:grpSpPr>
        <a:xfrm>
          <a:off x="0" y="0"/>
          <a:ext cx="0" cy="0"/>
          <a:chOff x="0" y="0"/>
          <a:chExt cx="0" cy="0"/>
        </a:xfrm>
      </p:grpSpPr>
      <p:pic>
        <p:nvPicPr>
          <p:cNvPr id="2" name="Image 0" descr="Diagram: five problems of the old system and the change that removes each — random tracking codes, ID-card pickup, structured intake with photos, WhatsApp updates, and an event report">    </p:cNvPr>
          <p:cNvPicPr>
            <a:picLocks noChangeAspect="1"/>
          </p:cNvPicPr>
          <p:nvPr/>
        </p:nvPicPr>
        <p:blipFill>
          <a:blip r:embed="rId1"/>
          <a:srcRect l="-6878" r="-6878" t="0" b="0"/>
          <a:stretch/>
        </p:blipFill>
        <p:spPr>
          <a:xfrm>
            <a:off x="609600" y="355600"/>
            <a:ext cx="10972800" cy="5638800"/>
          </a:xfrm>
          <a:prstGeom prst="rect">
            <a:avLst/>
          </a:prstGeom>
        </p:spPr>
      </p:pic>
      <p:sp>
        <p:nvSpPr>
          <p:cNvPr id="3" name="Text 0"/>
          <p:cNvSpPr/>
          <p:nvPr/>
        </p:nvSpPr>
        <p:spPr>
          <a:xfrm>
            <a:off x="812800" y="6238241"/>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70"/>
                </a:solidFill>
                <a:latin typeface="IBM Plex Mono" pitchFamily="49" charset="0"/>
                <a:ea typeface="IBM Plex Mono" pitchFamily="49" charset="-122"/>
                <a:cs typeface="IBM Plex Mono" pitchFamily="49" charset="-120"/>
              </a:rPr>
              <a:t>SIMADRepair · Faculty of Computing</a:t>
            </a:r>
            <a:endParaRPr lang="en-US" sz="1200" dirty="0"/>
          </a:p>
        </p:txBody>
      </p:sp>
      <p:sp>
        <p:nvSpPr>
          <p:cNvPr id="4" name="Text 1"/>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770"/>
                </a:solidFill>
                <a:latin typeface="IBM Plex Mono" pitchFamily="49" charset="0"/>
                <a:ea typeface="IBM Plex Mono" pitchFamily="49" charset="-122"/>
                <a:cs typeface="IBM Plex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CFB"/>
        </a:solidFill>
      </p:bgPr>
    </p:bg>
    <p:spTree>
      <p:nvGrpSpPr>
        <p:cNvPr id="1" name=""/>
        <p:cNvGrpSpPr/>
        <p:nvPr/>
      </p:nvGrpSpPr>
      <p:grpSpPr>
        <a:xfrm>
          <a:off x="0" y="0"/>
          <a:ext cx="0" cy="0"/>
          <a:chOff x="0" y="0"/>
          <a:chExt cx="0" cy="0"/>
        </a:xfrm>
      </p:grpSpPr>
      <p:pic>
        <p:nvPicPr>
          <p:cNvPr id="2" name="Image 0" descr="Diagram: students and staff, the lead technician desk, volunteer technicians and the admin all work through one SIMADRepair platform with secure records, program settings and WhatsApp messages">    </p:cNvPr>
          <p:cNvPicPr>
            <a:picLocks noChangeAspect="1"/>
          </p:cNvPicPr>
          <p:nvPr/>
        </p:nvPicPr>
        <p:blipFill>
          <a:blip r:embed="rId1"/>
          <a:srcRect l="-5378" r="-5378" t="0" b="0"/>
          <a:stretch/>
        </p:blipFill>
        <p:spPr>
          <a:xfrm>
            <a:off x="609600" y="355600"/>
            <a:ext cx="10972800" cy="5638800"/>
          </a:xfrm>
          <a:prstGeom prst="rect">
            <a:avLst/>
          </a:prstGeom>
        </p:spPr>
      </p:pic>
      <p:sp>
        <p:nvSpPr>
          <p:cNvPr id="3" name="Text 0"/>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70"/>
                </a:solidFill>
                <a:latin typeface="IBM Plex Mono" pitchFamily="49" charset="0"/>
                <a:ea typeface="IBM Plex Mono" pitchFamily="49" charset="-122"/>
                <a:cs typeface="IBM Plex Mono" pitchFamily="49" charset="-120"/>
              </a:rPr>
              <a:t>SIMADRepair · Faculty of Computing</a:t>
            </a:r>
            <a:endParaRPr lang="en-US" sz="1200" dirty="0"/>
          </a:p>
        </p:txBody>
      </p:sp>
      <p:sp>
        <p:nvSpPr>
          <p:cNvPr id="4" name="Text 1"/>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770"/>
                </a:solidFill>
                <a:latin typeface="IBM Plex Mono" pitchFamily="49" charset="0"/>
                <a:ea typeface="IBM Plex Mono" pitchFamily="49" charset="-122"/>
                <a:cs typeface="IBM Plex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CFB"/>
        </a:solidFill>
      </p:bgPr>
    </p:bg>
    <p:spTree>
      <p:nvGrpSpPr>
        <p:cNvPr id="1" name=""/>
        <p:cNvGrpSpPr/>
        <p:nvPr/>
      </p:nvGrpSpPr>
      <p:grpSpPr>
        <a:xfrm>
          <a:off x="0" y="0"/>
          <a:ext cx="0" cy="0"/>
          <a:chOff x="0" y="0"/>
          <a:chExt cx="0" cy="0"/>
        </a:xfrm>
      </p:grpSpPr>
      <p:pic>
        <p:nvPicPr>
          <p:cNvPr id="2" name="Image 0" descr="Swimlane diagram: the student registers, the lead desk checks the device in, a technician claims and repairs it, the desk hands it over against the ID card, the student rates the service and the admin gets the event report">    </p:cNvPr>
          <p:cNvPicPr>
            <a:picLocks noChangeAspect="1"/>
          </p:cNvPicPr>
          <p:nvPr/>
        </p:nvPicPr>
        <p:blipFill>
          <a:blip r:embed="rId1"/>
          <a:srcRect l="-10973" r="-10973" t="0" b="0"/>
          <a:stretch/>
        </p:blipFill>
        <p:spPr>
          <a:xfrm>
            <a:off x="609600" y="355600"/>
            <a:ext cx="10972800" cy="5638800"/>
          </a:xfrm>
          <a:prstGeom prst="rect">
            <a:avLst/>
          </a:prstGeom>
        </p:spPr>
      </p:pic>
      <p:sp>
        <p:nvSpPr>
          <p:cNvPr id="3" name="Text 0"/>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70"/>
                </a:solidFill>
                <a:latin typeface="IBM Plex Mono" pitchFamily="49" charset="0"/>
                <a:ea typeface="IBM Plex Mono" pitchFamily="49" charset="-122"/>
                <a:cs typeface="IBM Plex Mono" pitchFamily="49" charset="-120"/>
              </a:rPr>
              <a:t>SIMADRepair · Faculty of Computing</a:t>
            </a:r>
            <a:endParaRPr lang="en-US" sz="1200" dirty="0"/>
          </a:p>
        </p:txBody>
      </p:sp>
      <p:sp>
        <p:nvSpPr>
          <p:cNvPr id="4" name="Text 1"/>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770"/>
                </a:solidFill>
                <a:latin typeface="IBM Plex Mono" pitchFamily="49" charset="0"/>
                <a:ea typeface="IBM Plex Mono" pitchFamily="49" charset="-122"/>
                <a:cs typeface="IBM Plex Mono" pitchFamily="49"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F7A45"/>
                </a:solidFill>
                <a:latin typeface="IBM Plex Mono" pitchFamily="49" charset="0"/>
                <a:ea typeface="IBM Plex Mono" pitchFamily="49" charset="-122"/>
                <a:cs typeface="IBM Plex Mono" pitchFamily="49" charset="-120"/>
              </a:rPr>
              <a:t>STUDENTS</a:t>
            </a:r>
            <a:endParaRPr lang="en-US" sz="1200" dirty="0"/>
          </a:p>
        </p:txBody>
      </p:sp>
      <p:sp>
        <p:nvSpPr>
          <p:cNvPr id="3" name="Text 1"/>
          <p:cNvSpPr/>
          <p:nvPr>
            <p:ph type="title"/>
          </p:nvPr>
        </p:nvSpPr>
        <p:spPr>
          <a:xfrm>
            <a:off x="812800" y="1127761"/>
            <a:ext cx="10883392" cy="464264"/>
          </a:xfrm>
          <a:prstGeom prst="rect">
            <a:avLst/>
          </a:prstGeom>
          <a:noFill/>
          <a:ln/>
        </p:spPr>
        <p:txBody>
          <a:bodyPr wrap="square" lIns="0" tIns="0" rIns="0" bIns="0" rtlCol="0" anchor="t">
            <a:normAutofit/>
          </a:bodyPr>
          <a:lstStyle/>
          <a:p>
            <a:pPr algn="l" indent="0" marL="0">
              <a:lnSpc>
                <a:spcPts val="3456"/>
              </a:lnSpc>
              <a:buNone/>
            </a:pPr>
            <a:r>
              <a:rPr lang="en-US" sz="3200" b="1" i="0" spc="-50" kern="0" dirty="0">
                <a:solidFill>
                  <a:srgbClr val="141A17"/>
                </a:solidFill>
                <a:latin typeface="Hanken Grotesk" pitchFamily="34" charset="0"/>
                <a:ea typeface="Hanken Grotesk" pitchFamily="34" charset="-122"/>
                <a:cs typeface="Hanken Grotesk" pitchFamily="34" charset="-120"/>
              </a:rPr>
              <a:t>Register on the phone, follow every step</a:t>
            </a:r>
            <a:endParaRPr lang="en-US" sz="3200" dirty="0"/>
          </a:p>
        </p:txBody>
      </p:sp>
      <p:pic>
        <p:nvPicPr>
          <p:cNvPr id="4" name="Image 0" descr="Screenshot of the SIMADRepair home page with the program dates, Request repair button and tracking box">    </p:cNvPr>
          <p:cNvPicPr>
            <a:picLocks noChangeAspect="1"/>
          </p:cNvPicPr>
          <p:nvPr/>
        </p:nvPicPr>
        <p:blipFill>
          <a:blip r:embed="rId1"/>
          <a:srcRect l="0" r="0" t="74" b="74"/>
          <a:stretch/>
        </p:blipFill>
        <p:spPr>
          <a:xfrm>
            <a:off x="819150" y="1877774"/>
            <a:ext cx="5118100" cy="3194050"/>
          </a:xfrm>
          <a:prstGeom prst="roundRect">
            <a:avLst>
              <a:gd name="adj" fmla="val 2982"/>
            </a:avLst>
          </a:prstGeom>
          <a:effectLst>
            <a:outerShdw sx="100000" sy="100000" kx="0" ky="0" algn="bl" rotWithShape="0" blurRad="203200" dist="76200" dir="5400000">
              <a:srgbClr val="0A3C23">
                <a:alpha val="12000"/>
              </a:srgbClr>
            </a:outerShdw>
          </a:effectLst>
        </p:spPr>
      </p:pic>
      <p:sp>
        <p:nvSpPr>
          <p:cNvPr id="5" name="Shape 2"/>
          <p:cNvSpPr/>
          <p:nvPr/>
        </p:nvSpPr>
        <p:spPr>
          <a:xfrm>
            <a:off x="815975" y="1874599"/>
            <a:ext cx="5124450" cy="3200400"/>
          </a:xfrm>
          <a:prstGeom prst="roundRect">
            <a:avLst>
              <a:gd name="adj" fmla="val 3075"/>
            </a:avLst>
          </a:prstGeom>
          <a:noFill/>
          <a:ln w="6350">
            <a:solidFill>
              <a:srgbClr val="DCE3DF"/>
            </a:solidFill>
            <a:prstDash val="solid"/>
          </a:ln>
        </p:spPr>
      </p:sp>
      <p:sp>
        <p:nvSpPr>
          <p:cNvPr id="6" name="Text 3"/>
          <p:cNvSpPr/>
          <p:nvPr/>
        </p:nvSpPr>
        <p:spPr>
          <a:xfrm>
            <a:off x="812800" y="5205174"/>
            <a:ext cx="54356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C4A43"/>
                </a:solidFill>
                <a:latin typeface="Hanken Grotesk" pitchFamily="34" charset="0"/>
                <a:ea typeface="Hanken Grotesk" pitchFamily="34" charset="-122"/>
                <a:cs typeface="Hanken Grotesk" pitchFamily="34" charset="-120"/>
              </a:rPr>
              <a:t>Home:</a:t>
            </a:r>
            <a:r>
              <a:rPr lang="en-US" sz="1400" dirty="0">
                <a:solidFill>
                  <a:srgbClr val="3C4A43"/>
                </a:solidFill>
                <a:latin typeface="Hanken Grotesk" pitchFamily="34" charset="0"/>
                <a:ea typeface="Hanken Grotesk" pitchFamily="34" charset="-122"/>
                <a:cs typeface="Hanken Grotesk" pitchFamily="34" charset="-120"/>
              </a:rPr>
              <a:t> program dates, venue and one button to request a repair</a:t>
            </a:r>
            <a:endParaRPr lang="en-US" sz="1400" dirty="0"/>
          </a:p>
        </p:txBody>
      </p:sp>
      <p:pic>
        <p:nvPicPr>
          <p:cNvPr id="7" name="Image 1" descr="Screenshot of the tracking page showing a repair waiting for a part, with the technician's WhatsApp contact">    </p:cNvPr>
          <p:cNvPicPr>
            <a:picLocks noChangeAspect="1"/>
          </p:cNvPicPr>
          <p:nvPr/>
        </p:nvPicPr>
        <p:blipFill>
          <a:blip r:embed="rId2"/>
          <a:srcRect l="0" r="0" t="3558" b="3558"/>
          <a:stretch/>
        </p:blipFill>
        <p:spPr>
          <a:xfrm>
            <a:off x="6254750" y="1877774"/>
            <a:ext cx="5118100" cy="3194050"/>
          </a:xfrm>
          <a:prstGeom prst="roundRect">
            <a:avLst>
              <a:gd name="adj" fmla="val 2982"/>
            </a:avLst>
          </a:prstGeom>
          <a:effectLst>
            <a:outerShdw sx="100000" sy="100000" kx="0" ky="0" algn="bl" rotWithShape="0" blurRad="203200" dist="76200" dir="5400000">
              <a:srgbClr val="0A3C23">
                <a:alpha val="12000"/>
              </a:srgbClr>
            </a:outerShdw>
          </a:effectLst>
        </p:spPr>
      </p:pic>
      <p:sp>
        <p:nvSpPr>
          <p:cNvPr id="8" name="Shape 4"/>
          <p:cNvSpPr/>
          <p:nvPr/>
        </p:nvSpPr>
        <p:spPr>
          <a:xfrm>
            <a:off x="6251575" y="1874599"/>
            <a:ext cx="5124450" cy="3200400"/>
          </a:xfrm>
          <a:prstGeom prst="roundRect">
            <a:avLst>
              <a:gd name="adj" fmla="val 3075"/>
            </a:avLst>
          </a:prstGeom>
          <a:noFill/>
          <a:ln w="6350">
            <a:solidFill>
              <a:srgbClr val="DCE3DF"/>
            </a:solidFill>
            <a:prstDash val="solid"/>
          </a:ln>
        </p:spPr>
      </p:sp>
      <p:sp>
        <p:nvSpPr>
          <p:cNvPr id="9" name="Text 5"/>
          <p:cNvSpPr/>
          <p:nvPr/>
        </p:nvSpPr>
        <p:spPr>
          <a:xfrm>
            <a:off x="6248400" y="5205174"/>
            <a:ext cx="5284724"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C4A43"/>
                </a:solidFill>
                <a:latin typeface="Hanken Grotesk" pitchFamily="34" charset="0"/>
                <a:ea typeface="Hanken Grotesk" pitchFamily="34" charset="-122"/>
                <a:cs typeface="Hanken Grotesk" pitchFamily="34" charset="-120"/>
              </a:rPr>
              <a:t>Tracking:</a:t>
            </a:r>
            <a:r>
              <a:rPr lang="en-US" sz="1400" dirty="0">
                <a:solidFill>
                  <a:srgbClr val="3C4A43"/>
                </a:solidFill>
                <a:latin typeface="Hanken Grotesk" pitchFamily="34" charset="0"/>
                <a:ea typeface="Hanken Grotesk" pitchFamily="34" charset="-122"/>
                <a:cs typeface="Hanken Grotesk" pitchFamily="34" charset="-120"/>
              </a:rPr>
              <a:t> live status, what to bring, and the technician on WhatsApp</a:t>
            </a:r>
            <a:endParaRPr lang="en-US" sz="1400" dirty="0"/>
          </a:p>
        </p:txBody>
      </p:sp>
      <p:sp>
        <p:nvSpPr>
          <p:cNvPr id="10" name="Text 6"/>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70"/>
                </a:solidFill>
                <a:latin typeface="IBM Plex Mono" pitchFamily="49" charset="0"/>
                <a:ea typeface="IBM Plex Mono" pitchFamily="49" charset="-122"/>
                <a:cs typeface="IBM Plex Mono" pitchFamily="49" charset="-120"/>
              </a:rPr>
              <a:t>SIMADRepair · Faculty of Computing</a:t>
            </a:r>
            <a:endParaRPr lang="en-US" sz="1200" dirty="0"/>
          </a:p>
        </p:txBody>
      </p:sp>
      <p:sp>
        <p:nvSpPr>
          <p:cNvPr id="11" name="Text 7"/>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770"/>
                </a:solidFill>
                <a:latin typeface="IBM Plex Mono" pitchFamily="49" charset="0"/>
                <a:ea typeface="IBM Plex Mono" pitchFamily="49" charset="-122"/>
                <a:cs typeface="IBM Plex Mono"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CFB"/>
        </a:solidFill>
      </p:bgPr>
    </p:bg>
    <p:spTree>
      <p:nvGrpSpPr>
        <p:cNvPr id="1" name=""/>
        <p:cNvGrpSpPr/>
        <p:nvPr/>
      </p:nvGrpSpPr>
      <p:grpSpPr>
        <a:xfrm>
          <a:off x="0" y="0"/>
          <a:ext cx="0" cy="0"/>
          <a:chOff x="0" y="0"/>
          <a:chExt cx="0" cy="0"/>
        </a:xfrm>
      </p:grpSpPr>
      <p:pic>
        <p:nvPicPr>
          <p:cNvPr id="2" name="Image 0" descr="Student journey diagram: register, get a code, drop off, track, collect and rate, with how each stage feels and what is new">    </p:cNvPr>
          <p:cNvPicPr>
            <a:picLocks noChangeAspect="1"/>
          </p:cNvPicPr>
          <p:nvPr/>
        </p:nvPicPr>
        <p:blipFill>
          <a:blip r:embed="rId1"/>
          <a:srcRect l="-6392" r="-6392" t="0" b="0"/>
          <a:stretch/>
        </p:blipFill>
        <p:spPr>
          <a:xfrm>
            <a:off x="609600" y="355600"/>
            <a:ext cx="10972800" cy="5638800"/>
          </a:xfrm>
          <a:prstGeom prst="rect">
            <a:avLst/>
          </a:prstGeom>
        </p:spPr>
      </p:pic>
      <p:sp>
        <p:nvSpPr>
          <p:cNvPr id="3" name="Text 0"/>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70"/>
                </a:solidFill>
                <a:latin typeface="IBM Plex Mono" pitchFamily="49" charset="0"/>
                <a:ea typeface="IBM Plex Mono" pitchFamily="49" charset="-122"/>
                <a:cs typeface="IBM Plex Mono" pitchFamily="49" charset="-120"/>
              </a:rPr>
              <a:t>SIMADRepair · Faculty of Computing</a:t>
            </a:r>
            <a:endParaRPr lang="en-US" sz="1200" dirty="0"/>
          </a:p>
        </p:txBody>
      </p:sp>
      <p:sp>
        <p:nvSpPr>
          <p:cNvPr id="4" name="Text 1"/>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770"/>
                </a:solidFill>
                <a:latin typeface="IBM Plex Mono" pitchFamily="49" charset="0"/>
                <a:ea typeface="IBM Plex Mono" pitchFamily="49" charset="-122"/>
                <a:cs typeface="IBM Plex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7173"/>
          </a:xfrm>
          <a:prstGeom prst="rect">
            <a:avLst/>
          </a:prstGeom>
          <a:noFill/>
          <a:ln/>
        </p:spPr>
        <p:txBody>
          <a:bodyPr wrap="square" lIns="0" tIns="0" rIns="0" bIns="0" rtlCol="0" anchor="t">
            <a:normAutofit/>
          </a:bodyPr>
          <a:lstStyle/>
          <a:p>
            <a:pPr algn="l" indent="0" marL="0">
              <a:lnSpc>
                <a:spcPts val="1675"/>
              </a:lnSpc>
              <a:buNone/>
            </a:pPr>
            <a:r>
              <a:rPr lang="en-US" sz="1196" spc="150" kern="0" dirty="0">
                <a:solidFill>
                  <a:srgbClr val="0F7A45"/>
                </a:solidFill>
                <a:latin typeface="IBM Plex Mono" pitchFamily="49" charset="0"/>
                <a:ea typeface="IBM Plex Mono" pitchFamily="49" charset="-122"/>
                <a:cs typeface="IBM Plex Mono" pitchFamily="49" charset="-120"/>
              </a:rPr>
              <a:t>LEAD TECHNICIAN DESK</a:t>
            </a:r>
            <a:endParaRPr lang="en-US" sz="1196" dirty="0"/>
          </a:p>
        </p:txBody>
      </p:sp>
      <p:sp>
        <p:nvSpPr>
          <p:cNvPr id="3" name="Text 1"/>
          <p:cNvSpPr/>
          <p:nvPr>
            <p:ph type="title"/>
          </p:nvPr>
        </p:nvSpPr>
        <p:spPr>
          <a:xfrm>
            <a:off x="812800" y="1126173"/>
            <a:ext cx="10883392" cy="461089"/>
          </a:xfrm>
          <a:prstGeom prst="rect">
            <a:avLst/>
          </a:prstGeom>
          <a:noFill/>
          <a:ln/>
        </p:spPr>
        <p:txBody>
          <a:bodyPr wrap="square" lIns="0" tIns="0" rIns="0" bIns="0" rtlCol="0" anchor="t">
            <a:normAutofit/>
          </a:bodyPr>
          <a:lstStyle/>
          <a:p>
            <a:pPr algn="l" indent="0" marL="0">
              <a:lnSpc>
                <a:spcPts val="3456"/>
              </a:lnSpc>
              <a:buNone/>
            </a:pPr>
            <a:r>
              <a:rPr lang="en-US" sz="3200" b="1" i="0" spc="-50" kern="0" dirty="0">
                <a:solidFill>
                  <a:srgbClr val="141A17"/>
                </a:solidFill>
                <a:latin typeface="Hanken Grotesk" pitchFamily="34" charset="0"/>
                <a:ea typeface="Hanken Grotesk" pitchFamily="34" charset="-122"/>
                <a:cs typeface="Hanken Grotesk" pitchFamily="34" charset="-120"/>
              </a:rPr>
              <a:t>Every device on one live board</a:t>
            </a:r>
            <a:endParaRPr lang="en-US" sz="3200" dirty="0"/>
          </a:p>
        </p:txBody>
      </p:sp>
      <p:pic>
        <p:nvPicPr>
          <p:cNvPr id="4" name="Image 0" descr="Screenshot of the lead technician board with columns for waiting drop-off, to assign, in repair, blocked and ready for pickup">    </p:cNvPr>
          <p:cNvPicPr>
            <a:picLocks noChangeAspect="1"/>
          </p:cNvPicPr>
          <p:nvPr/>
        </p:nvPicPr>
        <p:blipFill>
          <a:blip r:embed="rId1"/>
          <a:srcRect l="0" r="0" t="60" b="60"/>
          <a:stretch/>
        </p:blipFill>
        <p:spPr>
          <a:xfrm>
            <a:off x="819150" y="1860472"/>
            <a:ext cx="6388100" cy="3987800"/>
          </a:xfrm>
          <a:prstGeom prst="roundRect">
            <a:avLst>
              <a:gd name="adj" fmla="val 2389"/>
            </a:avLst>
          </a:prstGeom>
          <a:effectLst>
            <a:outerShdw sx="100000" sy="100000" kx="0" ky="0" algn="bl" rotWithShape="0" blurRad="203200" dist="76200" dir="5400000">
              <a:srgbClr val="0A3C23">
                <a:alpha val="12000"/>
              </a:srgbClr>
            </a:outerShdw>
          </a:effectLst>
        </p:spPr>
      </p:pic>
      <p:sp>
        <p:nvSpPr>
          <p:cNvPr id="5" name="Shape 2"/>
          <p:cNvSpPr/>
          <p:nvPr/>
        </p:nvSpPr>
        <p:spPr>
          <a:xfrm>
            <a:off x="815975" y="1857297"/>
            <a:ext cx="6394450" cy="3994150"/>
          </a:xfrm>
          <a:prstGeom prst="roundRect">
            <a:avLst>
              <a:gd name="adj" fmla="val 2464"/>
            </a:avLst>
          </a:prstGeom>
          <a:noFill/>
          <a:ln w="6350">
            <a:solidFill>
              <a:srgbClr val="DCE3DF"/>
            </a:solidFill>
            <a:prstDash val="solid"/>
          </a:ln>
        </p:spPr>
      </p:sp>
      <p:sp>
        <p:nvSpPr>
          <p:cNvPr id="6" name="Text 3"/>
          <p:cNvSpPr/>
          <p:nvPr/>
        </p:nvSpPr>
        <p:spPr>
          <a:xfrm>
            <a:off x="7569200" y="2561431"/>
            <a:ext cx="39243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17"/>
                </a:solidFill>
                <a:latin typeface="Hanken Grotesk" pitchFamily="34" charset="0"/>
                <a:ea typeface="Hanken Grotesk" pitchFamily="34" charset="-122"/>
                <a:cs typeface="Hanken Grotesk" pitchFamily="34" charset="-120"/>
              </a:rPr>
              <a:t>Check-in in ~30 seconds</a:t>
            </a:r>
            <a:endParaRPr lang="en-US" sz="1600" dirty="0"/>
          </a:p>
        </p:txBody>
      </p:sp>
      <p:sp>
        <p:nvSpPr>
          <p:cNvPr id="7" name="Text 4"/>
          <p:cNvSpPr/>
          <p:nvPr/>
        </p:nvSpPr>
        <p:spPr>
          <a:xfrm>
            <a:off x="7569200" y="2843371"/>
            <a:ext cx="39243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A43"/>
                </a:solidFill>
                <a:latin typeface="Hanken Grotesk" pitchFamily="34" charset="0"/>
                <a:ea typeface="Hanken Grotesk" pitchFamily="34" charset="-122"/>
                <a:cs typeface="Hanken Grotesk" pitchFamily="34" charset="-120"/>
              </a:rPr>
              <a:t>ID card, condition, tag sticker #147</a:t>
            </a:r>
            <a:endParaRPr lang="en-US" sz="1300" dirty="0"/>
          </a:p>
        </p:txBody>
      </p:sp>
      <p:sp>
        <p:nvSpPr>
          <p:cNvPr id="8" name="Text 5"/>
          <p:cNvSpPr/>
          <p:nvPr/>
        </p:nvSpPr>
        <p:spPr>
          <a:xfrm>
            <a:off x="7569200" y="3252313"/>
            <a:ext cx="39243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17"/>
                </a:solidFill>
                <a:latin typeface="Hanken Grotesk" pitchFamily="34" charset="0"/>
                <a:ea typeface="Hanken Grotesk" pitchFamily="34" charset="-122"/>
                <a:cs typeface="Hanken Grotesk" pitchFamily="34" charset="-120"/>
              </a:rPr>
              <a:t>Assign by load and skill</a:t>
            </a:r>
            <a:endParaRPr lang="en-US" sz="1600" dirty="0"/>
          </a:p>
        </p:txBody>
      </p:sp>
      <p:sp>
        <p:nvSpPr>
          <p:cNvPr id="9" name="Text 6"/>
          <p:cNvSpPr/>
          <p:nvPr/>
        </p:nvSpPr>
        <p:spPr>
          <a:xfrm>
            <a:off x="7569200" y="3534252"/>
            <a:ext cx="39243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A43"/>
                </a:solidFill>
                <a:latin typeface="Hanken Grotesk" pitchFamily="34" charset="0"/>
                <a:ea typeface="Hanken Grotesk" pitchFamily="34" charset="-122"/>
                <a:cs typeface="Hanken Grotesk" pitchFamily="34" charset="-120"/>
              </a:rPr>
              <a:t>Or volunteers claim up to 3 each</a:t>
            </a:r>
            <a:endParaRPr lang="en-US" sz="1300" dirty="0"/>
          </a:p>
        </p:txBody>
      </p:sp>
      <p:sp>
        <p:nvSpPr>
          <p:cNvPr id="10" name="Text 7"/>
          <p:cNvSpPr/>
          <p:nvPr/>
        </p:nvSpPr>
        <p:spPr>
          <a:xfrm>
            <a:off x="7569200" y="3943192"/>
            <a:ext cx="39243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17"/>
                </a:solidFill>
                <a:latin typeface="Hanken Grotesk" pitchFamily="34" charset="0"/>
                <a:ea typeface="Hanken Grotesk" pitchFamily="34" charset="-122"/>
                <a:cs typeface="Hanken Grotesk" pitchFamily="34" charset="-120"/>
              </a:rPr>
              <a:t>Stuck alerts</a:t>
            </a:r>
            <a:endParaRPr lang="en-US" sz="1600" dirty="0"/>
          </a:p>
        </p:txBody>
      </p:sp>
      <p:sp>
        <p:nvSpPr>
          <p:cNvPr id="11" name="Text 8"/>
          <p:cNvSpPr/>
          <p:nvPr/>
        </p:nvSpPr>
        <p:spPr>
          <a:xfrm>
            <a:off x="7569200" y="4225131"/>
            <a:ext cx="39243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A43"/>
                </a:solidFill>
                <a:latin typeface="Hanken Grotesk" pitchFamily="34" charset="0"/>
                <a:ea typeface="Hanken Grotesk" pitchFamily="34" charset="-122"/>
                <a:cs typeface="Hanken Grotesk" pitchFamily="34" charset="-120"/>
              </a:rPr>
              <a:t>Unassigned over 1 hour turns red</a:t>
            </a:r>
            <a:endParaRPr lang="en-US" sz="1300" dirty="0"/>
          </a:p>
        </p:txBody>
      </p:sp>
      <p:sp>
        <p:nvSpPr>
          <p:cNvPr id="12" name="Text 9"/>
          <p:cNvSpPr/>
          <p:nvPr/>
        </p:nvSpPr>
        <p:spPr>
          <a:xfrm>
            <a:off x="7569200" y="4634074"/>
            <a:ext cx="39243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17"/>
                </a:solidFill>
                <a:latin typeface="Hanken Grotesk" pitchFamily="34" charset="0"/>
                <a:ea typeface="Hanken Grotesk" pitchFamily="34" charset="-122"/>
                <a:cs typeface="Hanken Grotesk" pitchFamily="34" charset="-120"/>
              </a:rPr>
              <a:t>Pickup by ID card</a:t>
            </a:r>
            <a:endParaRPr lang="en-US" sz="1600" dirty="0"/>
          </a:p>
        </p:txBody>
      </p:sp>
      <p:sp>
        <p:nvSpPr>
          <p:cNvPr id="13" name="Text 10"/>
          <p:cNvSpPr/>
          <p:nvPr/>
        </p:nvSpPr>
        <p:spPr>
          <a:xfrm>
            <a:off x="7569200" y="4916010"/>
            <a:ext cx="39243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A43"/>
                </a:solidFill>
                <a:latin typeface="Hanken Grotesk" pitchFamily="34" charset="0"/>
                <a:ea typeface="Hanken Grotesk" pitchFamily="34" charset="-122"/>
                <a:cs typeface="Hanken Grotesk" pitchFamily="34" charset="-120"/>
              </a:rPr>
              <a:t>Collector name and phone recorded</a:t>
            </a:r>
            <a:endParaRPr lang="en-US" sz="1300" dirty="0"/>
          </a:p>
        </p:txBody>
      </p:sp>
      <p:sp>
        <p:nvSpPr>
          <p:cNvPr id="14" name="Text 11"/>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70"/>
                </a:solidFill>
                <a:latin typeface="IBM Plex Mono" pitchFamily="49" charset="0"/>
                <a:ea typeface="IBM Plex Mono" pitchFamily="49" charset="-122"/>
                <a:cs typeface="IBM Plex Mono" pitchFamily="49" charset="-120"/>
              </a:rPr>
              <a:t>SIMADRepair · Faculty of Computing</a:t>
            </a:r>
            <a:endParaRPr lang="en-US" sz="1200" dirty="0"/>
          </a:p>
        </p:txBody>
      </p:sp>
      <p:sp>
        <p:nvSpPr>
          <p:cNvPr id="15" name="Text 12"/>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770"/>
                </a:solidFill>
                <a:latin typeface="IBM Plex Mono" pitchFamily="49" charset="0"/>
                <a:ea typeface="IBM Plex Mono" pitchFamily="49" charset="-122"/>
                <a:cs typeface="IBM Plex Mono"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CFB"/>
        </a:solidFill>
      </p:bgPr>
    </p:bg>
    <p:spTree>
      <p:nvGrpSpPr>
        <p:cNvPr id="1" name=""/>
        <p:cNvGrpSpPr/>
        <p:nvPr/>
      </p:nvGrpSpPr>
      <p:grpSpPr>
        <a:xfrm>
          <a:off x="0" y="0"/>
          <a:ext cx="0" cy="0"/>
          <a:chOff x="0" y="0"/>
          <a:chExt cx="0" cy="0"/>
        </a:xfrm>
      </p:grpSpPr>
      <p:pic>
        <p:nvPicPr>
          <p:cNvPr id="2" name="Image 0" descr="Lead desk flow diagram: online and walk-in requests are checked in with a tag number, assigned, watched on the live board and picked up by ID card">    </p:cNvPr>
          <p:cNvPicPr>
            <a:picLocks noChangeAspect="1"/>
          </p:cNvPicPr>
          <p:nvPr/>
        </p:nvPicPr>
        <p:blipFill>
          <a:blip r:embed="rId1"/>
          <a:srcRect l="-1527" r="-1527" t="0" b="0"/>
          <a:stretch/>
        </p:blipFill>
        <p:spPr>
          <a:xfrm>
            <a:off x="609600" y="355600"/>
            <a:ext cx="10972800" cy="5638800"/>
          </a:xfrm>
          <a:prstGeom prst="rect">
            <a:avLst/>
          </a:prstGeom>
        </p:spPr>
      </p:pic>
      <p:sp>
        <p:nvSpPr>
          <p:cNvPr id="3" name="Text 0"/>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70"/>
                </a:solidFill>
                <a:latin typeface="IBM Plex Mono" pitchFamily="49" charset="0"/>
                <a:ea typeface="IBM Plex Mono" pitchFamily="49" charset="-122"/>
                <a:cs typeface="IBM Plex Mono" pitchFamily="49" charset="-120"/>
              </a:rPr>
              <a:t>SIMADRepair · Faculty of Computing</a:t>
            </a:r>
            <a:endParaRPr lang="en-US" sz="1200" dirty="0"/>
          </a:p>
        </p:txBody>
      </p:sp>
      <p:sp>
        <p:nvSpPr>
          <p:cNvPr id="4" name="Text 1"/>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770"/>
                </a:solidFill>
                <a:latin typeface="IBM Plex Mono" pitchFamily="49" charset="0"/>
                <a:ea typeface="IBM Plex Mono" pitchFamily="49" charset="-122"/>
                <a:cs typeface="IBM Plex Mono"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CFB"/>
        </a:solidFill>
      </p:bgPr>
    </p:bg>
    <p:spTree>
      <p:nvGrpSpPr>
        <p:cNvPr id="1" name=""/>
        <p:cNvGrpSpPr/>
        <p:nvPr/>
      </p:nvGrpSpPr>
      <p:grpSpPr>
        <a:xfrm>
          <a:off x="0" y="0"/>
          <a:ext cx="0" cy="0"/>
          <a:chOff x="0" y="0"/>
          <a:chExt cx="0" cy="0"/>
        </a:xfrm>
      </p:grpSpPr>
      <p:pic>
        <p:nvPicPr>
          <p:cNvPr id="2" name="Image 0" descr="Technician flow diagram: claim a repair, read the intake, start, handle blocks, record the fix and tests, then ready with a WhatsApp message">    </p:cNvPr>
          <p:cNvPicPr>
            <a:picLocks noChangeAspect="1"/>
          </p:cNvPicPr>
          <p:nvPr/>
        </p:nvPicPr>
        <p:blipFill>
          <a:blip r:embed="rId1"/>
          <a:srcRect l="0" r="0" t="-7740" b="-7740"/>
          <a:stretch/>
        </p:blipFill>
        <p:spPr>
          <a:xfrm>
            <a:off x="609600" y="355600"/>
            <a:ext cx="10972800" cy="5638800"/>
          </a:xfrm>
          <a:prstGeom prst="rect">
            <a:avLst/>
          </a:prstGeom>
        </p:spPr>
      </p:pic>
      <p:sp>
        <p:nvSpPr>
          <p:cNvPr id="3" name="Text 0"/>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70"/>
                </a:solidFill>
                <a:latin typeface="IBM Plex Mono" pitchFamily="49" charset="0"/>
                <a:ea typeface="IBM Plex Mono" pitchFamily="49" charset="-122"/>
                <a:cs typeface="IBM Plex Mono" pitchFamily="49" charset="-120"/>
              </a:rPr>
              <a:t>SIMADRepair · Faculty of Computing</a:t>
            </a:r>
            <a:endParaRPr lang="en-US" sz="1200" dirty="0"/>
          </a:p>
        </p:txBody>
      </p:sp>
      <p:sp>
        <p:nvSpPr>
          <p:cNvPr id="4" name="Text 1"/>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770"/>
                </a:solidFill>
                <a:latin typeface="IBM Plex Mono" pitchFamily="49" charset="0"/>
                <a:ea typeface="IBM Plex Mono" pitchFamily="49" charset="-122"/>
                <a:cs typeface="IBM Plex Mono"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CFB"/>
        </a:solidFill>
      </p:bgPr>
    </p:bg>
    <p:spTree>
      <p:nvGrpSpPr>
        <p:cNvPr id="1" name=""/>
        <p:cNvGrpSpPr/>
        <p:nvPr/>
      </p:nvGrpSpPr>
      <p:grpSpPr>
        <a:xfrm>
          <a:off x="0" y="0"/>
          <a:ext cx="0" cy="0"/>
          <a:chOff x="0" y="0"/>
          <a:chExt cx="0" cy="0"/>
        </a:xfrm>
      </p:grpSpPr>
      <p:pic>
        <p:nvPicPr>
          <p:cNvPr id="2" name="Image 0" descr="Repair status diagram: submitted, received, in repair, waiting, ready for pickup, collected, with cancelled and cannot be repaired as clear outcomes">    </p:cNvPr>
          <p:cNvPicPr>
            <a:picLocks noChangeAspect="1"/>
          </p:cNvPicPr>
          <p:nvPr/>
        </p:nvPicPr>
        <p:blipFill>
          <a:blip r:embed="rId1"/>
          <a:srcRect l="-13081" r="-13081" t="0" b="0"/>
          <a:stretch/>
        </p:blipFill>
        <p:spPr>
          <a:xfrm>
            <a:off x="609600" y="355600"/>
            <a:ext cx="10972800" cy="5638800"/>
          </a:xfrm>
          <a:prstGeom prst="rect">
            <a:avLst/>
          </a:prstGeom>
        </p:spPr>
      </p:pic>
      <p:sp>
        <p:nvSpPr>
          <p:cNvPr id="3" name="Text 0"/>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70"/>
                </a:solidFill>
                <a:latin typeface="IBM Plex Mono" pitchFamily="49" charset="0"/>
                <a:ea typeface="IBM Plex Mono" pitchFamily="49" charset="-122"/>
                <a:cs typeface="IBM Plex Mono" pitchFamily="49" charset="-120"/>
              </a:rPr>
              <a:t>SIMADRepair · Faculty of Computing</a:t>
            </a:r>
            <a:endParaRPr lang="en-US" sz="1200" dirty="0"/>
          </a:p>
        </p:txBody>
      </p:sp>
      <p:sp>
        <p:nvSpPr>
          <p:cNvPr id="4" name="Text 1"/>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770"/>
                </a:solidFill>
                <a:latin typeface="IBM Plex Mono" pitchFamily="49" charset="0"/>
                <a:ea typeface="IBM Plex Mono" pitchFamily="49" charset="-122"/>
                <a:cs typeface="IBM Plex Mono"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7173"/>
          </a:xfrm>
          <a:prstGeom prst="rect">
            <a:avLst/>
          </a:prstGeom>
          <a:noFill/>
          <a:ln/>
        </p:spPr>
        <p:txBody>
          <a:bodyPr wrap="square" lIns="0" tIns="0" rIns="0" bIns="0" rtlCol="0" anchor="t">
            <a:normAutofit/>
          </a:bodyPr>
          <a:lstStyle/>
          <a:p>
            <a:pPr algn="l" indent="0" marL="0">
              <a:lnSpc>
                <a:spcPts val="1675"/>
              </a:lnSpc>
              <a:buNone/>
            </a:pPr>
            <a:r>
              <a:rPr lang="en-US" sz="1196" spc="150" kern="0" dirty="0">
                <a:solidFill>
                  <a:srgbClr val="0F7A45"/>
                </a:solidFill>
                <a:latin typeface="IBM Plex Mono" pitchFamily="49" charset="0"/>
                <a:ea typeface="IBM Plex Mono" pitchFamily="49" charset="-122"/>
                <a:cs typeface="IBM Plex Mono" pitchFamily="49" charset="-120"/>
              </a:rPr>
              <a:t>ADMIN AND REPORTING</a:t>
            </a:r>
            <a:endParaRPr lang="en-US" sz="1196" dirty="0"/>
          </a:p>
        </p:txBody>
      </p:sp>
      <p:sp>
        <p:nvSpPr>
          <p:cNvPr id="3" name="Text 1"/>
          <p:cNvSpPr/>
          <p:nvPr>
            <p:ph type="title"/>
          </p:nvPr>
        </p:nvSpPr>
        <p:spPr>
          <a:xfrm>
            <a:off x="812800" y="1126176"/>
            <a:ext cx="10883392" cy="461089"/>
          </a:xfrm>
          <a:prstGeom prst="rect">
            <a:avLst/>
          </a:prstGeom>
          <a:noFill/>
          <a:ln/>
        </p:spPr>
        <p:txBody>
          <a:bodyPr wrap="square" lIns="0" tIns="0" rIns="0" bIns="0" rtlCol="0" anchor="t">
            <a:normAutofit/>
          </a:bodyPr>
          <a:lstStyle/>
          <a:p>
            <a:pPr algn="l" indent="0" marL="0">
              <a:lnSpc>
                <a:spcPts val="3456"/>
              </a:lnSpc>
              <a:buNone/>
            </a:pPr>
            <a:r>
              <a:rPr lang="en-US" sz="3200" b="1" i="0" spc="-50" kern="0" dirty="0">
                <a:solidFill>
                  <a:srgbClr val="141A17"/>
                </a:solidFill>
                <a:latin typeface="Hanken Grotesk" pitchFamily="34" charset="0"/>
                <a:ea typeface="Hanken Grotesk" pitchFamily="34" charset="-122"/>
                <a:cs typeface="Hanken Grotesk" pitchFamily="34" charset="-120"/>
              </a:rPr>
              <a:t>A report from real data after every event</a:t>
            </a:r>
            <a:endParaRPr lang="en-US" sz="3200" dirty="0"/>
          </a:p>
        </p:txBody>
      </p:sp>
      <p:pic>
        <p:nvPicPr>
          <p:cNvPr id="4" name="Image 0" descr="Screenshot of the event report: registered, received, fixed, cannot repair, collected, fix rate, median time to ready, rating, top faults and results by faculty">    </p:cNvPr>
          <p:cNvPicPr>
            <a:picLocks noChangeAspect="1"/>
          </p:cNvPicPr>
          <p:nvPr/>
        </p:nvPicPr>
        <p:blipFill>
          <a:blip r:embed="rId1"/>
          <a:srcRect l="0" r="0" t="60" b="60"/>
          <a:stretch/>
        </p:blipFill>
        <p:spPr>
          <a:xfrm>
            <a:off x="819150" y="1860469"/>
            <a:ext cx="6388100" cy="3987800"/>
          </a:xfrm>
          <a:prstGeom prst="roundRect">
            <a:avLst>
              <a:gd name="adj" fmla="val 2389"/>
            </a:avLst>
          </a:prstGeom>
          <a:effectLst>
            <a:outerShdw sx="100000" sy="100000" kx="0" ky="0" algn="bl" rotWithShape="0" blurRad="203200" dist="76200" dir="5400000">
              <a:srgbClr val="0A3C23">
                <a:alpha val="12000"/>
              </a:srgbClr>
            </a:outerShdw>
          </a:effectLst>
        </p:spPr>
      </p:pic>
      <p:sp>
        <p:nvSpPr>
          <p:cNvPr id="5" name="Shape 2"/>
          <p:cNvSpPr/>
          <p:nvPr/>
        </p:nvSpPr>
        <p:spPr>
          <a:xfrm>
            <a:off x="815975" y="1857294"/>
            <a:ext cx="6394450" cy="3994150"/>
          </a:xfrm>
          <a:prstGeom prst="roundRect">
            <a:avLst>
              <a:gd name="adj" fmla="val 2464"/>
            </a:avLst>
          </a:prstGeom>
          <a:noFill/>
          <a:ln w="6350">
            <a:solidFill>
              <a:srgbClr val="DCE3DF"/>
            </a:solidFill>
            <a:prstDash val="solid"/>
          </a:ln>
        </p:spPr>
      </p:sp>
      <p:sp>
        <p:nvSpPr>
          <p:cNvPr id="6" name="Text 3"/>
          <p:cNvSpPr/>
          <p:nvPr/>
        </p:nvSpPr>
        <p:spPr>
          <a:xfrm>
            <a:off x="7569200" y="2561431"/>
            <a:ext cx="39243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17"/>
                </a:solidFill>
                <a:latin typeface="Hanken Grotesk" pitchFamily="34" charset="0"/>
                <a:ea typeface="Hanken Grotesk" pitchFamily="34" charset="-122"/>
                <a:cs typeface="Hanken Grotesk" pitchFamily="34" charset="-120"/>
              </a:rPr>
              <a:t>Live overview</a:t>
            </a:r>
            <a:endParaRPr lang="en-US" sz="1600" dirty="0"/>
          </a:p>
        </p:txBody>
      </p:sp>
      <p:sp>
        <p:nvSpPr>
          <p:cNvPr id="7" name="Text 4"/>
          <p:cNvSpPr/>
          <p:nvPr/>
        </p:nvSpPr>
        <p:spPr>
          <a:xfrm>
            <a:off x="7569200" y="2843374"/>
            <a:ext cx="39243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A43"/>
                </a:solidFill>
                <a:latin typeface="Hanken Grotesk" pitchFamily="34" charset="0"/>
                <a:ea typeface="Hanken Grotesk" pitchFamily="34" charset="-122"/>
                <a:cs typeface="Hanken Grotesk" pitchFamily="34" charset="-120"/>
              </a:rPr>
              <a:t>Today’s numbers, stuck devices, technician load</a:t>
            </a:r>
            <a:endParaRPr lang="en-US" sz="1300" dirty="0"/>
          </a:p>
        </p:txBody>
      </p:sp>
      <p:sp>
        <p:nvSpPr>
          <p:cNvPr id="8" name="Text 5"/>
          <p:cNvSpPr/>
          <p:nvPr/>
        </p:nvSpPr>
        <p:spPr>
          <a:xfrm>
            <a:off x="7569200" y="3252310"/>
            <a:ext cx="39243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17"/>
                </a:solidFill>
                <a:latin typeface="Hanken Grotesk" pitchFamily="34" charset="0"/>
                <a:ea typeface="Hanken Grotesk" pitchFamily="34" charset="-122"/>
                <a:cs typeface="Hanken Grotesk" pitchFamily="34" charset="-120"/>
              </a:rPr>
              <a:t>Event report</a:t>
            </a:r>
            <a:endParaRPr lang="en-US" sz="1600" dirty="0"/>
          </a:p>
        </p:txBody>
      </p:sp>
      <p:sp>
        <p:nvSpPr>
          <p:cNvPr id="9" name="Text 6"/>
          <p:cNvSpPr/>
          <p:nvPr/>
        </p:nvSpPr>
        <p:spPr>
          <a:xfrm>
            <a:off x="7569200" y="3534252"/>
            <a:ext cx="39243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A43"/>
                </a:solidFill>
                <a:latin typeface="Hanken Grotesk" pitchFamily="34" charset="0"/>
                <a:ea typeface="Hanken Grotesk" pitchFamily="34" charset="-122"/>
                <a:cs typeface="Hanken Grotesk" pitchFamily="34" charset="-120"/>
              </a:rPr>
              <a:t>Fix rate, top faults, by faculty, ratings</a:t>
            </a:r>
            <a:endParaRPr lang="en-US" sz="1300" dirty="0"/>
          </a:p>
        </p:txBody>
      </p:sp>
      <p:sp>
        <p:nvSpPr>
          <p:cNvPr id="10" name="Text 7"/>
          <p:cNvSpPr/>
          <p:nvPr/>
        </p:nvSpPr>
        <p:spPr>
          <a:xfrm>
            <a:off x="7569200" y="3943195"/>
            <a:ext cx="39243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17"/>
                </a:solidFill>
                <a:latin typeface="Hanken Grotesk" pitchFamily="34" charset="0"/>
                <a:ea typeface="Hanken Grotesk" pitchFamily="34" charset="-122"/>
                <a:cs typeface="Hanken Grotesk" pitchFamily="34" charset="-120"/>
              </a:rPr>
              <a:t>One-page PDF + CSV</a:t>
            </a:r>
            <a:endParaRPr lang="en-US" sz="1600" dirty="0"/>
          </a:p>
        </p:txBody>
      </p:sp>
      <p:sp>
        <p:nvSpPr>
          <p:cNvPr id="11" name="Text 8"/>
          <p:cNvSpPr/>
          <p:nvPr/>
        </p:nvSpPr>
        <p:spPr>
          <a:xfrm>
            <a:off x="7569200" y="4225131"/>
            <a:ext cx="39243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A43"/>
                </a:solidFill>
                <a:latin typeface="Hanken Grotesk" pitchFamily="34" charset="0"/>
                <a:ea typeface="Hanken Grotesk" pitchFamily="34" charset="-122"/>
                <a:cs typeface="Hanken Grotesk" pitchFamily="34" charset="-120"/>
              </a:rPr>
              <a:t>For faculty heads and management</a:t>
            </a:r>
            <a:endParaRPr lang="en-US" sz="1300" dirty="0"/>
          </a:p>
        </p:txBody>
      </p:sp>
      <p:sp>
        <p:nvSpPr>
          <p:cNvPr id="12" name="Text 9"/>
          <p:cNvSpPr/>
          <p:nvPr/>
        </p:nvSpPr>
        <p:spPr>
          <a:xfrm>
            <a:off x="7569200" y="4634074"/>
            <a:ext cx="39243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17"/>
                </a:solidFill>
                <a:latin typeface="Hanken Grotesk" pitchFamily="34" charset="0"/>
                <a:ea typeface="Hanken Grotesk" pitchFamily="34" charset="-122"/>
                <a:cs typeface="Hanken Grotesk" pitchFamily="34" charset="-120"/>
              </a:rPr>
              <a:t>Audit search</a:t>
            </a:r>
            <a:endParaRPr lang="en-US" sz="1600" dirty="0"/>
          </a:p>
        </p:txBody>
      </p:sp>
      <p:sp>
        <p:nvSpPr>
          <p:cNvPr id="13" name="Text 10"/>
          <p:cNvSpPr/>
          <p:nvPr/>
        </p:nvSpPr>
        <p:spPr>
          <a:xfrm>
            <a:off x="7569200" y="4916010"/>
            <a:ext cx="39243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A43"/>
                </a:solidFill>
                <a:latin typeface="Hanken Grotesk" pitchFamily="34" charset="0"/>
                <a:ea typeface="Hanken Grotesk" pitchFamily="34" charset="-122"/>
                <a:cs typeface="Hanken Grotesk" pitchFamily="34" charset="-120"/>
              </a:rPr>
              <a:t>Any ticket by code, tag or university ID</a:t>
            </a:r>
            <a:endParaRPr lang="en-US" sz="1300" dirty="0"/>
          </a:p>
        </p:txBody>
      </p:sp>
      <p:sp>
        <p:nvSpPr>
          <p:cNvPr id="14" name="Text 11"/>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70"/>
                </a:solidFill>
                <a:latin typeface="IBM Plex Mono" pitchFamily="49" charset="0"/>
                <a:ea typeface="IBM Plex Mono" pitchFamily="49" charset="-122"/>
                <a:cs typeface="IBM Plex Mono" pitchFamily="49" charset="-120"/>
              </a:rPr>
              <a:t>SIMADRepair · Faculty of Computing</a:t>
            </a:r>
            <a:endParaRPr lang="en-US" sz="1200" dirty="0"/>
          </a:p>
        </p:txBody>
      </p:sp>
      <p:sp>
        <p:nvSpPr>
          <p:cNvPr id="15" name="Text 12"/>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770"/>
                </a:solidFill>
                <a:latin typeface="IBM Plex Mono" pitchFamily="49" charset="0"/>
                <a:ea typeface="IBM Plex Mono" pitchFamily="49" charset="-122"/>
                <a:cs typeface="IBM Plex Mono" pitchFamily="49"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CFB"/>
        </a:solidFill>
      </p:bgPr>
    </p:bg>
    <p:spTree>
      <p:nvGrpSpPr>
        <p:cNvPr id="1" name=""/>
        <p:cNvGrpSpPr/>
        <p:nvPr/>
      </p:nvGrpSpPr>
      <p:grpSpPr>
        <a:xfrm>
          <a:off x="0" y="0"/>
          <a:ext cx="0" cy="0"/>
          <a:chOff x="0" y="0"/>
          <a:chExt cx="0" cy="0"/>
        </a:xfrm>
      </p:grpSpPr>
      <p:pic>
        <p:nvPicPr>
          <p:cNvPr id="2" name="Image 0" descr="Admin timeline: create the event and add volunteers before, registration opens, live overview during the event days, event ends, event report after, personal data erased 12 months later">    </p:cNvPr>
          <p:cNvPicPr>
            <a:picLocks noChangeAspect="1"/>
          </p:cNvPicPr>
          <p:nvPr/>
        </p:nvPicPr>
        <p:blipFill>
          <a:blip r:embed="rId1"/>
          <a:srcRect l="0" r="0" t="-2752" b="-2752"/>
          <a:stretch/>
        </p:blipFill>
        <p:spPr>
          <a:xfrm>
            <a:off x="609600" y="355600"/>
            <a:ext cx="10972800" cy="5638800"/>
          </a:xfrm>
          <a:prstGeom prst="rect">
            <a:avLst/>
          </a:prstGeom>
        </p:spPr>
      </p:pic>
      <p:sp>
        <p:nvSpPr>
          <p:cNvPr id="3" name="Text 0"/>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70"/>
                </a:solidFill>
                <a:latin typeface="IBM Plex Mono" pitchFamily="49" charset="0"/>
                <a:ea typeface="IBM Plex Mono" pitchFamily="49" charset="-122"/>
                <a:cs typeface="IBM Plex Mono" pitchFamily="49" charset="-120"/>
              </a:rPr>
              <a:t>SIMADRepair · Faculty of Computing</a:t>
            </a:r>
            <a:endParaRPr lang="en-US" sz="1200" dirty="0"/>
          </a:p>
        </p:txBody>
      </p:sp>
      <p:sp>
        <p:nvSpPr>
          <p:cNvPr id="4" name="Text 1"/>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770"/>
                </a:solidFill>
                <a:latin typeface="IBM Plex Mono" pitchFamily="49" charset="0"/>
                <a:ea typeface="IBM Plex Mono" pitchFamily="49" charset="-122"/>
                <a:cs typeface="IBM Plex Mono" pitchFamily="49"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F7A45"/>
                </a:solidFill>
                <a:latin typeface="IBM Plex Mono" pitchFamily="49" charset="0"/>
                <a:ea typeface="IBM Plex Mono" pitchFamily="49" charset="-122"/>
                <a:cs typeface="IBM Plex Mono" pitchFamily="49" charset="-120"/>
              </a:rPr>
              <a:t>TRUST AND PRIVACY</a:t>
            </a:r>
            <a:endParaRPr lang="en-US" sz="1200" dirty="0"/>
          </a:p>
        </p:txBody>
      </p:sp>
      <p:sp>
        <p:nvSpPr>
          <p:cNvPr id="3" name="Text 1"/>
          <p:cNvSpPr/>
          <p:nvPr>
            <p:ph type="title"/>
          </p:nvPr>
        </p:nvSpPr>
        <p:spPr>
          <a:xfrm>
            <a:off x="812800" y="1127764"/>
            <a:ext cx="10883392" cy="464264"/>
          </a:xfrm>
          <a:prstGeom prst="rect">
            <a:avLst/>
          </a:prstGeom>
          <a:noFill/>
          <a:ln/>
        </p:spPr>
        <p:txBody>
          <a:bodyPr wrap="square" lIns="0" tIns="0" rIns="0" bIns="0" rtlCol="0" anchor="t">
            <a:normAutofit/>
          </a:bodyPr>
          <a:lstStyle/>
          <a:p>
            <a:pPr algn="l" indent="0" marL="0">
              <a:lnSpc>
                <a:spcPts val="3456"/>
              </a:lnSpc>
              <a:buNone/>
            </a:pPr>
            <a:r>
              <a:rPr lang="en-US" sz="3200" b="1" i="0" spc="-50" kern="0" dirty="0">
                <a:solidFill>
                  <a:srgbClr val="141A17"/>
                </a:solidFill>
                <a:latin typeface="Hanken Grotesk" pitchFamily="34" charset="0"/>
                <a:ea typeface="Hanken Grotesk" pitchFamily="34" charset="-122"/>
                <a:cs typeface="Hanken Grotesk" pitchFamily="34" charset="-120"/>
              </a:rPr>
              <a:t>Students’ devices and data stay protected</a:t>
            </a:r>
            <a:endParaRPr lang="en-US" sz="3200" dirty="0"/>
          </a:p>
        </p:txBody>
      </p:sp>
      <p:sp>
        <p:nvSpPr>
          <p:cNvPr id="4" name="Shape 2"/>
          <p:cNvSpPr/>
          <p:nvPr/>
        </p:nvSpPr>
        <p:spPr>
          <a:xfrm>
            <a:off x="815975" y="1925402"/>
            <a:ext cx="3397250" cy="1649730"/>
          </a:xfrm>
          <a:prstGeom prst="roundRect">
            <a:avLst>
              <a:gd name="adj" fmla="val 7506"/>
            </a:avLst>
          </a:prstGeom>
          <a:solidFill>
            <a:srgbClr val="FDFEFD"/>
          </a:solidFill>
          <a:ln w="6350">
            <a:solidFill>
              <a:srgbClr val="DCE3DF"/>
            </a:solidFill>
            <a:prstDash val="solid"/>
          </a:ln>
        </p:spPr>
      </p:sp>
      <p:pic>
        <p:nvPicPr>
          <p:cNvPr id="5" name="Image 0" descr="Key">    </p:cNvPr>
          <p:cNvPicPr>
            <a:picLocks noChangeAspect="1"/>
          </p:cNvPicPr>
          <p:nvPr/>
        </p:nvPicPr>
        <p:blipFill>
          <a:blip r:embed="rId1"/>
          <a:srcRect l="0" r="0" t="0" b="0"/>
          <a:stretch/>
        </p:blipFill>
        <p:spPr>
          <a:xfrm>
            <a:off x="1046480" y="2155906"/>
            <a:ext cx="304800" cy="304800"/>
          </a:xfrm>
          <a:prstGeom prst="rect">
            <a:avLst/>
          </a:prstGeom>
        </p:spPr>
      </p:pic>
      <p:sp>
        <p:nvSpPr>
          <p:cNvPr id="6" name="Text 3"/>
          <p:cNvSpPr/>
          <p:nvPr/>
        </p:nvSpPr>
        <p:spPr>
          <a:xfrm>
            <a:off x="1046480" y="2549606"/>
            <a:ext cx="30243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17"/>
                </a:solidFill>
                <a:latin typeface="Hanken Grotesk" pitchFamily="34" charset="0"/>
                <a:ea typeface="Hanken Grotesk" pitchFamily="34" charset="-122"/>
                <a:cs typeface="Hanken Grotesk" pitchFamily="34" charset="-120"/>
              </a:rPr>
              <a:t>Random tracking codes</a:t>
            </a:r>
            <a:endParaRPr lang="en-US" sz="1600" dirty="0"/>
          </a:p>
        </p:txBody>
      </p:sp>
      <p:sp>
        <p:nvSpPr>
          <p:cNvPr id="7" name="Text 4"/>
          <p:cNvSpPr/>
          <p:nvPr/>
        </p:nvSpPr>
        <p:spPr>
          <a:xfrm>
            <a:off x="1046480" y="2882348"/>
            <a:ext cx="302432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A43"/>
                </a:solidFill>
                <a:latin typeface="Hanken Grotesk" pitchFamily="34" charset="0"/>
                <a:ea typeface="Hanken Grotesk" pitchFamily="34" charset="-122"/>
                <a:cs typeface="Hanken Grotesk" pitchFamily="34" charset="-120"/>
              </a:rPr>
              <a:t>Nothing to guess from someone else’s code</a:t>
            </a:r>
            <a:endParaRPr lang="en-US" sz="1300" dirty="0"/>
          </a:p>
        </p:txBody>
      </p:sp>
      <p:sp>
        <p:nvSpPr>
          <p:cNvPr id="8" name="Shape 5"/>
          <p:cNvSpPr/>
          <p:nvPr/>
        </p:nvSpPr>
        <p:spPr>
          <a:xfrm>
            <a:off x="4397375" y="1925402"/>
            <a:ext cx="3397250" cy="1649730"/>
          </a:xfrm>
          <a:prstGeom prst="roundRect">
            <a:avLst>
              <a:gd name="adj" fmla="val 7506"/>
            </a:avLst>
          </a:prstGeom>
          <a:solidFill>
            <a:srgbClr val="FDFEFD"/>
          </a:solidFill>
          <a:ln w="6350">
            <a:solidFill>
              <a:srgbClr val="DCE3DF"/>
            </a:solidFill>
            <a:prstDash val="solid"/>
          </a:ln>
        </p:spPr>
      </p:sp>
      <p:pic>
        <p:nvPicPr>
          <p:cNvPr id="9" name="Image 1" descr="Verified">    </p:cNvPr>
          <p:cNvPicPr>
            <a:picLocks noChangeAspect="1"/>
          </p:cNvPicPr>
          <p:nvPr/>
        </p:nvPicPr>
        <p:blipFill>
          <a:blip r:embed="rId2"/>
          <a:srcRect l="0" r="0" t="0" b="0"/>
          <a:stretch/>
        </p:blipFill>
        <p:spPr>
          <a:xfrm>
            <a:off x="4627880" y="2155906"/>
            <a:ext cx="304800" cy="304800"/>
          </a:xfrm>
          <a:prstGeom prst="rect">
            <a:avLst/>
          </a:prstGeom>
        </p:spPr>
      </p:pic>
      <p:sp>
        <p:nvSpPr>
          <p:cNvPr id="10" name="Text 6"/>
          <p:cNvSpPr/>
          <p:nvPr/>
        </p:nvSpPr>
        <p:spPr>
          <a:xfrm>
            <a:off x="4627880" y="2549606"/>
            <a:ext cx="30243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17"/>
                </a:solidFill>
                <a:latin typeface="Hanken Grotesk" pitchFamily="34" charset="0"/>
                <a:ea typeface="Hanken Grotesk" pitchFamily="34" charset="-122"/>
                <a:cs typeface="Hanken Grotesk" pitchFamily="34" charset="-120"/>
              </a:rPr>
              <a:t>Pickup by ID card</a:t>
            </a:r>
            <a:endParaRPr lang="en-US" sz="1600" dirty="0"/>
          </a:p>
        </p:txBody>
      </p:sp>
      <p:sp>
        <p:nvSpPr>
          <p:cNvPr id="11" name="Text 7"/>
          <p:cNvSpPr/>
          <p:nvPr/>
        </p:nvSpPr>
        <p:spPr>
          <a:xfrm>
            <a:off x="4627880" y="2882348"/>
            <a:ext cx="302432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A43"/>
                </a:solidFill>
                <a:latin typeface="Hanken Grotesk" pitchFamily="34" charset="0"/>
                <a:ea typeface="Hanken Grotesk" pitchFamily="34" charset="-122"/>
                <a:cs typeface="Hanken Grotesk" pitchFamily="34" charset="-120"/>
              </a:rPr>
              <a:t>The desk checks the card and records who collected</a:t>
            </a:r>
            <a:endParaRPr lang="en-US" sz="1300" dirty="0"/>
          </a:p>
        </p:txBody>
      </p:sp>
      <p:sp>
        <p:nvSpPr>
          <p:cNvPr id="12" name="Shape 8"/>
          <p:cNvSpPr/>
          <p:nvPr/>
        </p:nvSpPr>
        <p:spPr>
          <a:xfrm>
            <a:off x="7978775" y="1925402"/>
            <a:ext cx="3397250" cy="1649730"/>
          </a:xfrm>
          <a:prstGeom prst="roundRect">
            <a:avLst>
              <a:gd name="adj" fmla="val 7506"/>
            </a:avLst>
          </a:prstGeom>
          <a:solidFill>
            <a:srgbClr val="FDFEFD"/>
          </a:solidFill>
          <a:ln w="6350">
            <a:solidFill>
              <a:srgbClr val="DCE3DF"/>
            </a:solidFill>
            <a:prstDash val="solid"/>
          </a:ln>
        </p:spPr>
      </p:sp>
      <p:pic>
        <p:nvPicPr>
          <p:cNvPr id="13" name="Image 2" descr="Lock">    </p:cNvPr>
          <p:cNvPicPr>
            <a:picLocks noChangeAspect="1"/>
          </p:cNvPicPr>
          <p:nvPr/>
        </p:nvPicPr>
        <p:blipFill>
          <a:blip r:embed="rId3"/>
          <a:srcRect l="0" r="0" t="0" b="0"/>
          <a:stretch/>
        </p:blipFill>
        <p:spPr>
          <a:xfrm>
            <a:off x="8209280" y="2155906"/>
            <a:ext cx="304800" cy="304800"/>
          </a:xfrm>
          <a:prstGeom prst="rect">
            <a:avLst/>
          </a:prstGeom>
        </p:spPr>
      </p:pic>
      <p:sp>
        <p:nvSpPr>
          <p:cNvPr id="14" name="Text 9"/>
          <p:cNvSpPr/>
          <p:nvPr/>
        </p:nvSpPr>
        <p:spPr>
          <a:xfrm>
            <a:off x="8209280" y="2549606"/>
            <a:ext cx="30243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17"/>
                </a:solidFill>
                <a:latin typeface="Hanken Grotesk" pitchFamily="34" charset="0"/>
                <a:ea typeface="Hanken Grotesk" pitchFamily="34" charset="-122"/>
                <a:cs typeface="Hanken Grotesk" pitchFamily="34" charset="-120"/>
              </a:rPr>
              <a:t>Passwords encrypted</a:t>
            </a:r>
            <a:endParaRPr lang="en-US" sz="1600" dirty="0"/>
          </a:p>
        </p:txBody>
      </p:sp>
      <p:sp>
        <p:nvSpPr>
          <p:cNvPr id="15" name="Text 10"/>
          <p:cNvSpPr/>
          <p:nvPr/>
        </p:nvSpPr>
        <p:spPr>
          <a:xfrm>
            <a:off x="8209280" y="2882348"/>
            <a:ext cx="302432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A43"/>
                </a:solidFill>
                <a:latin typeface="Hanken Grotesk" pitchFamily="34" charset="0"/>
                <a:ea typeface="Hanken Grotesk" pitchFamily="34" charset="-122"/>
                <a:cs typeface="Hanken Grotesk" pitchFamily="34" charset="-120"/>
              </a:rPr>
              <a:t>Deleted at pickup or when the event ends</a:t>
            </a:r>
            <a:endParaRPr lang="en-US" sz="1300" dirty="0"/>
          </a:p>
        </p:txBody>
      </p:sp>
      <p:sp>
        <p:nvSpPr>
          <p:cNvPr id="16" name="Shape 11"/>
          <p:cNvSpPr/>
          <p:nvPr/>
        </p:nvSpPr>
        <p:spPr>
          <a:xfrm>
            <a:off x="815975" y="3759281"/>
            <a:ext cx="3397250" cy="1649730"/>
          </a:xfrm>
          <a:prstGeom prst="roundRect">
            <a:avLst>
              <a:gd name="adj" fmla="val 7506"/>
            </a:avLst>
          </a:prstGeom>
          <a:solidFill>
            <a:srgbClr val="FDFEFD"/>
          </a:solidFill>
          <a:ln w="6350">
            <a:solidFill>
              <a:srgbClr val="DCE3DF"/>
            </a:solidFill>
            <a:prstDash val="solid"/>
          </a:ln>
        </p:spPr>
      </p:sp>
      <p:pic>
        <p:nvPicPr>
          <p:cNvPr id="17" name="Image 3" descr="Search">    </p:cNvPr>
          <p:cNvPicPr>
            <a:picLocks noChangeAspect="1"/>
          </p:cNvPicPr>
          <p:nvPr/>
        </p:nvPicPr>
        <p:blipFill>
          <a:blip r:embed="rId4"/>
          <a:srcRect l="0" r="0" t="0" b="0"/>
          <a:stretch/>
        </p:blipFill>
        <p:spPr>
          <a:xfrm>
            <a:off x="1046480" y="3989784"/>
            <a:ext cx="304800" cy="304800"/>
          </a:xfrm>
          <a:prstGeom prst="rect">
            <a:avLst/>
          </a:prstGeom>
        </p:spPr>
      </p:pic>
      <p:sp>
        <p:nvSpPr>
          <p:cNvPr id="18" name="Text 12"/>
          <p:cNvSpPr/>
          <p:nvPr/>
        </p:nvSpPr>
        <p:spPr>
          <a:xfrm>
            <a:off x="1046480" y="4383484"/>
            <a:ext cx="30243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17"/>
                </a:solidFill>
                <a:latin typeface="Hanken Grotesk" pitchFamily="34" charset="0"/>
                <a:ea typeface="Hanken Grotesk" pitchFamily="34" charset="-122"/>
                <a:cs typeface="Hanken Grotesk" pitchFamily="34" charset="-120"/>
              </a:rPr>
              <a:t>Full audit trail</a:t>
            </a:r>
            <a:endParaRPr lang="en-US" sz="1600" dirty="0"/>
          </a:p>
        </p:txBody>
      </p:sp>
      <p:sp>
        <p:nvSpPr>
          <p:cNvPr id="19" name="Text 13"/>
          <p:cNvSpPr/>
          <p:nvPr/>
        </p:nvSpPr>
        <p:spPr>
          <a:xfrm>
            <a:off x="1046480" y="4716227"/>
            <a:ext cx="302432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A43"/>
                </a:solidFill>
                <a:latin typeface="Hanken Grotesk" pitchFamily="34" charset="0"/>
                <a:ea typeface="Hanken Grotesk" pitchFamily="34" charset="-122"/>
                <a:cs typeface="Hanken Grotesk" pitchFamily="34" charset="-120"/>
              </a:rPr>
              <a:t>Who did what, when and why, for every step</a:t>
            </a:r>
            <a:endParaRPr lang="en-US" sz="1300" dirty="0"/>
          </a:p>
        </p:txBody>
      </p:sp>
      <p:sp>
        <p:nvSpPr>
          <p:cNvPr id="20" name="Shape 14"/>
          <p:cNvSpPr/>
          <p:nvPr/>
        </p:nvSpPr>
        <p:spPr>
          <a:xfrm>
            <a:off x="4397375" y="3759281"/>
            <a:ext cx="3397250" cy="1649730"/>
          </a:xfrm>
          <a:prstGeom prst="roundRect">
            <a:avLst>
              <a:gd name="adj" fmla="val 7506"/>
            </a:avLst>
          </a:prstGeom>
          <a:solidFill>
            <a:srgbClr val="FDFEFD"/>
          </a:solidFill>
          <a:ln w="6350">
            <a:solidFill>
              <a:srgbClr val="DCE3DF"/>
            </a:solidFill>
            <a:prstDash val="solid"/>
          </a:ln>
        </p:spPr>
      </p:sp>
      <p:pic>
        <p:nvPicPr>
          <p:cNvPr id="21" name="Image 4" descr="Clock">    </p:cNvPr>
          <p:cNvPicPr>
            <a:picLocks noChangeAspect="1"/>
          </p:cNvPicPr>
          <p:nvPr/>
        </p:nvPicPr>
        <p:blipFill>
          <a:blip r:embed="rId5"/>
          <a:srcRect l="0" r="0" t="0" b="0"/>
          <a:stretch/>
        </p:blipFill>
        <p:spPr>
          <a:xfrm>
            <a:off x="4627880" y="3989784"/>
            <a:ext cx="304800" cy="304800"/>
          </a:xfrm>
          <a:prstGeom prst="rect">
            <a:avLst/>
          </a:prstGeom>
        </p:spPr>
      </p:pic>
      <p:sp>
        <p:nvSpPr>
          <p:cNvPr id="22" name="Text 15"/>
          <p:cNvSpPr/>
          <p:nvPr/>
        </p:nvSpPr>
        <p:spPr>
          <a:xfrm>
            <a:off x="4627880" y="4383484"/>
            <a:ext cx="30243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17"/>
                </a:solidFill>
                <a:latin typeface="Hanken Grotesk" pitchFamily="34" charset="0"/>
                <a:ea typeface="Hanken Grotesk" pitchFamily="34" charset="-122"/>
                <a:cs typeface="Hanken Grotesk" pitchFamily="34" charset="-120"/>
              </a:rPr>
              <a:t>Erased after 12 months</a:t>
            </a:r>
            <a:endParaRPr lang="en-US" sz="1600" dirty="0"/>
          </a:p>
        </p:txBody>
      </p:sp>
      <p:sp>
        <p:nvSpPr>
          <p:cNvPr id="23" name="Text 16"/>
          <p:cNvSpPr/>
          <p:nvPr/>
        </p:nvSpPr>
        <p:spPr>
          <a:xfrm>
            <a:off x="4627880" y="4716227"/>
            <a:ext cx="302432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A43"/>
                </a:solidFill>
                <a:latin typeface="Hanken Grotesk" pitchFamily="34" charset="0"/>
                <a:ea typeface="Hanken Grotesk" pitchFamily="34" charset="-122"/>
                <a:cs typeface="Hanken Grotesk" pitchFamily="34" charset="-120"/>
              </a:rPr>
              <a:t>Personal details go; anonymous statistics stay</a:t>
            </a:r>
            <a:endParaRPr lang="en-US" sz="1300" dirty="0"/>
          </a:p>
        </p:txBody>
      </p:sp>
      <p:sp>
        <p:nvSpPr>
          <p:cNvPr id="24" name="Shape 17"/>
          <p:cNvSpPr/>
          <p:nvPr/>
        </p:nvSpPr>
        <p:spPr>
          <a:xfrm>
            <a:off x="7978775" y="3759281"/>
            <a:ext cx="3397250" cy="1649730"/>
          </a:xfrm>
          <a:prstGeom prst="roundRect">
            <a:avLst>
              <a:gd name="adj" fmla="val 7506"/>
            </a:avLst>
          </a:prstGeom>
          <a:solidFill>
            <a:srgbClr val="FDFEFD"/>
          </a:solidFill>
          <a:ln w="6350">
            <a:solidFill>
              <a:srgbClr val="DCE3DF"/>
            </a:solidFill>
            <a:prstDash val="solid"/>
          </a:ln>
        </p:spPr>
      </p:sp>
      <p:pic>
        <p:nvPicPr>
          <p:cNvPr id="25" name="Image 5" descr="Users">    </p:cNvPr>
          <p:cNvPicPr>
            <a:picLocks noChangeAspect="1"/>
          </p:cNvPicPr>
          <p:nvPr/>
        </p:nvPicPr>
        <p:blipFill>
          <a:blip r:embed="rId6"/>
          <a:srcRect l="0" r="0" t="0" b="0"/>
          <a:stretch/>
        </p:blipFill>
        <p:spPr>
          <a:xfrm>
            <a:off x="8209280" y="3989784"/>
            <a:ext cx="304800" cy="304800"/>
          </a:xfrm>
          <a:prstGeom prst="rect">
            <a:avLst/>
          </a:prstGeom>
        </p:spPr>
      </p:pic>
      <p:sp>
        <p:nvSpPr>
          <p:cNvPr id="26" name="Text 18"/>
          <p:cNvSpPr/>
          <p:nvPr/>
        </p:nvSpPr>
        <p:spPr>
          <a:xfrm>
            <a:off x="8209280" y="4383484"/>
            <a:ext cx="302432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17"/>
                </a:solidFill>
                <a:latin typeface="Hanken Grotesk" pitchFamily="34" charset="0"/>
                <a:ea typeface="Hanken Grotesk" pitchFamily="34" charset="-122"/>
                <a:cs typeface="Hanken Grotesk" pitchFamily="34" charset="-120"/>
              </a:rPr>
              <a:t>Access by role</a:t>
            </a:r>
            <a:endParaRPr lang="en-US" sz="1600" dirty="0"/>
          </a:p>
        </p:txBody>
      </p:sp>
      <p:sp>
        <p:nvSpPr>
          <p:cNvPr id="27" name="Text 19"/>
          <p:cNvSpPr/>
          <p:nvPr/>
        </p:nvSpPr>
        <p:spPr>
          <a:xfrm>
            <a:off x="8209280" y="4716227"/>
            <a:ext cx="302432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4A43"/>
                </a:solidFill>
                <a:latin typeface="Hanken Grotesk" pitchFamily="34" charset="0"/>
                <a:ea typeface="Hanken Grotesk" pitchFamily="34" charset="-122"/>
                <a:cs typeface="Hanken Grotesk" pitchFamily="34" charset="-120"/>
              </a:rPr>
              <a:t>Volunteer access ends with the event</a:t>
            </a:r>
            <a:endParaRPr lang="en-US" sz="1300" dirty="0"/>
          </a:p>
        </p:txBody>
      </p:sp>
      <p:sp>
        <p:nvSpPr>
          <p:cNvPr id="28" name="Text 20"/>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70"/>
                </a:solidFill>
                <a:latin typeface="IBM Plex Mono" pitchFamily="49" charset="0"/>
                <a:ea typeface="IBM Plex Mono" pitchFamily="49" charset="-122"/>
                <a:cs typeface="IBM Plex Mono" pitchFamily="49" charset="-120"/>
              </a:rPr>
              <a:t>SIMADRepair · Faculty of Computing</a:t>
            </a:r>
            <a:endParaRPr lang="en-US" sz="1200" dirty="0"/>
          </a:p>
        </p:txBody>
      </p:sp>
      <p:sp>
        <p:nvSpPr>
          <p:cNvPr id="29" name="Text 21"/>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770"/>
                </a:solidFill>
                <a:latin typeface="IBM Plex Mono" pitchFamily="49" charset="0"/>
                <a:ea typeface="IBM Plex Mono" pitchFamily="49" charset="-122"/>
                <a:cs typeface="IBM Plex Mono" pitchFamily="49"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5130"/>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rcRect l="0" r="0" t="7786" b="7786"/>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0A5130">
                  <a:alpha val="97000"/>
                </a:srgbClr>
              </a:gs>
              <a:gs pos="55000">
                <a:srgbClr val="0F7A45">
                  <a:alpha val="90000"/>
                </a:srgbClr>
              </a:gs>
              <a:gs pos="100000">
                <a:srgbClr val="0F7A45">
                  <a:alpha val="55000"/>
                </a:srgbClr>
              </a:gs>
            </a:gsLst>
            <a:lin ang="0" scaled="0"/>
          </a:gradFill>
          <a:ln/>
        </p:spPr>
      </p:sp>
      <p:sp>
        <p:nvSpPr>
          <p:cNvPr id="4" name="Text 1"/>
          <p:cNvSpPr/>
          <p:nvPr/>
        </p:nvSpPr>
        <p:spPr>
          <a:xfrm>
            <a:off x="812800" y="236982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FE5CF"/>
                </a:solidFill>
                <a:latin typeface="IBM Plex Mono" pitchFamily="49" charset="0"/>
                <a:ea typeface="IBM Plex Mono" pitchFamily="49" charset="-122"/>
                <a:cs typeface="IBM Plex Mono" pitchFamily="49" charset="-120"/>
              </a:rPr>
              <a:t>WHY IT MATTERS</a:t>
            </a:r>
            <a:endParaRPr lang="en-US" sz="1200" dirty="0"/>
          </a:p>
        </p:txBody>
      </p:sp>
      <p:sp>
        <p:nvSpPr>
          <p:cNvPr id="5" name="Text 2"/>
          <p:cNvSpPr/>
          <p:nvPr>
            <p:ph type="title"/>
          </p:nvPr>
        </p:nvSpPr>
        <p:spPr>
          <a:xfrm>
            <a:off x="812800" y="2811779"/>
            <a:ext cx="8175625" cy="1701800"/>
          </a:xfrm>
          <a:prstGeom prst="rect">
            <a:avLst/>
          </a:prstGeom>
          <a:noFill/>
          <a:ln/>
        </p:spPr>
        <p:txBody>
          <a:bodyPr wrap="square" lIns="0" tIns="0" rIns="0" bIns="0" rtlCol="0" anchor="t">
            <a:normAutofit/>
          </a:bodyPr>
          <a:lstStyle/>
          <a:p>
            <a:pPr algn="l" indent="0" marL="0">
              <a:lnSpc>
                <a:spcPts val="4400"/>
              </a:lnSpc>
              <a:buNone/>
            </a:pPr>
            <a:r>
              <a:rPr lang="en-US" sz="4000" b="1" i="0" spc="-75" kern="0" dirty="0">
                <a:solidFill>
                  <a:srgbClr val="FBFCFB"/>
                </a:solidFill>
                <a:latin typeface="Hanken Grotesk" pitchFamily="34" charset="0"/>
                <a:ea typeface="Hanken Grotesk" pitchFamily="34" charset="-122"/>
                <a:cs typeface="Hanken Grotesk" pitchFamily="34" charset="-120"/>
              </a:rPr>
              <a:t>Every repair leaves a record: what was wrong, what we fixed and who took it home.</a:t>
            </a:r>
            <a:endParaRPr 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8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F7A45"/>
                </a:solidFill>
                <a:latin typeface="IBM Plex Mono" pitchFamily="49" charset="0"/>
                <a:ea typeface="IBM Plex Mono" pitchFamily="49" charset="-122"/>
                <a:cs typeface="IBM Plex Mono" pitchFamily="49" charset="-120"/>
              </a:rPr>
              <a:t>READINESS</a:t>
            </a:r>
            <a:endParaRPr lang="en-US" sz="1200" dirty="0"/>
          </a:p>
        </p:txBody>
      </p:sp>
      <p:sp>
        <p:nvSpPr>
          <p:cNvPr id="3" name="Text 1"/>
          <p:cNvSpPr/>
          <p:nvPr>
            <p:ph type="title"/>
          </p:nvPr>
        </p:nvSpPr>
        <p:spPr>
          <a:xfrm>
            <a:off x="812800" y="1127764"/>
            <a:ext cx="10883392" cy="464264"/>
          </a:xfrm>
          <a:prstGeom prst="rect">
            <a:avLst/>
          </a:prstGeom>
          <a:noFill/>
          <a:ln/>
        </p:spPr>
        <p:txBody>
          <a:bodyPr wrap="square" lIns="0" tIns="0" rIns="0" bIns="0" rtlCol="0" anchor="t">
            <a:normAutofit/>
          </a:bodyPr>
          <a:lstStyle/>
          <a:p>
            <a:pPr algn="l" indent="0" marL="0">
              <a:lnSpc>
                <a:spcPts val="3456"/>
              </a:lnSpc>
              <a:buNone/>
            </a:pPr>
            <a:r>
              <a:rPr lang="en-US" sz="3200" b="1" i="0" spc="-50" kern="0" dirty="0">
                <a:solidFill>
                  <a:srgbClr val="141A17"/>
                </a:solidFill>
                <a:latin typeface="Hanken Grotesk" pitchFamily="34" charset="0"/>
                <a:ea typeface="Hanken Grotesk" pitchFamily="34" charset="-122"/>
                <a:cs typeface="Hanken Grotesk" pitchFamily="34" charset="-120"/>
              </a:rPr>
              <a:t>Ready for 27–28 October</a:t>
            </a:r>
            <a:endParaRPr lang="en-US" sz="3200" dirty="0"/>
          </a:p>
        </p:txBody>
      </p:sp>
      <p:sp>
        <p:nvSpPr>
          <p:cNvPr id="4" name="Shape 2"/>
          <p:cNvSpPr/>
          <p:nvPr/>
        </p:nvSpPr>
        <p:spPr>
          <a:xfrm>
            <a:off x="815975" y="1925402"/>
            <a:ext cx="5149850" cy="2780030"/>
          </a:xfrm>
          <a:prstGeom prst="roundRect">
            <a:avLst>
              <a:gd name="adj" fmla="val 4454"/>
            </a:avLst>
          </a:prstGeom>
          <a:solidFill>
            <a:srgbClr val="FDFEFD"/>
          </a:solidFill>
          <a:ln w="6350">
            <a:solidFill>
              <a:srgbClr val="DCE3DF"/>
            </a:solidFill>
            <a:prstDash val="solid"/>
          </a:ln>
        </p:spPr>
      </p:sp>
      <p:sp>
        <p:nvSpPr>
          <p:cNvPr id="5" name="Text 3"/>
          <p:cNvSpPr/>
          <p:nvPr/>
        </p:nvSpPr>
        <p:spPr>
          <a:xfrm>
            <a:off x="1097280" y="2206712"/>
            <a:ext cx="472485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A5130"/>
                </a:solidFill>
                <a:latin typeface="Hanken Grotesk" pitchFamily="34" charset="0"/>
                <a:ea typeface="Hanken Grotesk" pitchFamily="34" charset="-122"/>
                <a:cs typeface="Hanken Grotesk" pitchFamily="34" charset="-120"/>
              </a:rPr>
              <a:t>Built and tested</a:t>
            </a:r>
            <a:endParaRPr lang="en-US" sz="1800" dirty="0"/>
          </a:p>
        </p:txBody>
      </p:sp>
      <p:pic>
        <p:nvPicPr>
          <p:cNvPr id="6" name="Image 0" descr="CheckCircle">    </p:cNvPr>
          <p:cNvPicPr>
            <a:picLocks noChangeAspect="1"/>
          </p:cNvPicPr>
          <p:nvPr/>
        </p:nvPicPr>
        <p:blipFill>
          <a:blip r:embed="rId1"/>
          <a:srcRect l="0" r="0" t="0" b="0"/>
          <a:stretch/>
        </p:blipFill>
        <p:spPr>
          <a:xfrm>
            <a:off x="1097280" y="2630884"/>
            <a:ext cx="228600" cy="228600"/>
          </a:xfrm>
          <a:prstGeom prst="rect">
            <a:avLst/>
          </a:prstGeom>
        </p:spPr>
      </p:pic>
      <p:sp>
        <p:nvSpPr>
          <p:cNvPr id="7" name="Text 4"/>
          <p:cNvSpPr/>
          <p:nvPr/>
        </p:nvSpPr>
        <p:spPr>
          <a:xfrm>
            <a:off x="1427480" y="2620727"/>
            <a:ext cx="320516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A17"/>
                </a:solidFill>
                <a:latin typeface="Hanken Grotesk" pitchFamily="34" charset="0"/>
                <a:ea typeface="Hanken Grotesk" pitchFamily="34" charset="-122"/>
                <a:cs typeface="Hanken Grotesk" pitchFamily="34" charset="-120"/>
              </a:rPr>
              <a:t>Website, registration and tracking</a:t>
            </a:r>
            <a:endParaRPr lang="en-US" sz="1400" dirty="0"/>
          </a:p>
        </p:txBody>
      </p:sp>
      <p:pic>
        <p:nvPicPr>
          <p:cNvPr id="8" name="Image 1" descr="CheckCircle">    </p:cNvPr>
          <p:cNvPicPr>
            <a:picLocks noChangeAspect="1"/>
          </p:cNvPicPr>
          <p:nvPr/>
        </p:nvPicPr>
        <p:blipFill>
          <a:blip r:embed="rId2"/>
          <a:srcRect l="0" r="0" t="0" b="0"/>
          <a:stretch/>
        </p:blipFill>
        <p:spPr>
          <a:xfrm>
            <a:off x="1097280" y="3019512"/>
            <a:ext cx="228600" cy="228600"/>
          </a:xfrm>
          <a:prstGeom prst="rect">
            <a:avLst/>
          </a:prstGeom>
        </p:spPr>
      </p:pic>
      <p:sp>
        <p:nvSpPr>
          <p:cNvPr id="9" name="Text 5"/>
          <p:cNvSpPr/>
          <p:nvPr/>
        </p:nvSpPr>
        <p:spPr>
          <a:xfrm>
            <a:off x="1427480" y="3009342"/>
            <a:ext cx="311315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A17"/>
                </a:solidFill>
                <a:latin typeface="Hanken Grotesk" pitchFamily="34" charset="0"/>
                <a:ea typeface="Hanken Grotesk" pitchFamily="34" charset="-122"/>
                <a:cs typeface="Hanken Grotesk" pitchFamily="34" charset="-120"/>
              </a:rPr>
              <a:t>Desk board, check-in and pickup</a:t>
            </a:r>
            <a:endParaRPr lang="en-US" sz="1400" dirty="0"/>
          </a:p>
        </p:txBody>
      </p:sp>
      <p:pic>
        <p:nvPicPr>
          <p:cNvPr id="10" name="Image 2" descr="CheckCircle">    </p:cNvPr>
          <p:cNvPicPr>
            <a:picLocks noChangeAspect="1"/>
          </p:cNvPicPr>
          <p:nvPr/>
        </p:nvPicPr>
        <p:blipFill>
          <a:blip r:embed="rId3"/>
          <a:srcRect l="0" r="0" t="0" b="0"/>
          <a:stretch/>
        </p:blipFill>
        <p:spPr>
          <a:xfrm>
            <a:off x="1097280" y="3408127"/>
            <a:ext cx="228600" cy="228600"/>
          </a:xfrm>
          <a:prstGeom prst="rect">
            <a:avLst/>
          </a:prstGeom>
        </p:spPr>
      </p:pic>
      <p:sp>
        <p:nvSpPr>
          <p:cNvPr id="11" name="Text 6"/>
          <p:cNvSpPr/>
          <p:nvPr/>
        </p:nvSpPr>
        <p:spPr>
          <a:xfrm>
            <a:off x="1427480" y="3397969"/>
            <a:ext cx="341699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A17"/>
                </a:solidFill>
                <a:latin typeface="Hanken Grotesk" pitchFamily="34" charset="0"/>
                <a:ea typeface="Hanken Grotesk" pitchFamily="34" charset="-122"/>
                <a:cs typeface="Hanken Grotesk" pitchFamily="34" charset="-120"/>
              </a:rPr>
              <a:t>Technician workspace on the phone</a:t>
            </a:r>
            <a:endParaRPr lang="en-US" sz="1400" dirty="0"/>
          </a:p>
        </p:txBody>
      </p:sp>
      <p:pic>
        <p:nvPicPr>
          <p:cNvPr id="12" name="Image 3" descr="CheckCircle">    </p:cNvPr>
          <p:cNvPicPr>
            <a:picLocks noChangeAspect="1"/>
          </p:cNvPicPr>
          <p:nvPr/>
        </p:nvPicPr>
        <p:blipFill>
          <a:blip r:embed="rId4"/>
          <a:srcRect l="0" r="0" t="0" b="0"/>
          <a:stretch/>
        </p:blipFill>
        <p:spPr>
          <a:xfrm>
            <a:off x="1097280" y="3796742"/>
            <a:ext cx="228600" cy="228600"/>
          </a:xfrm>
          <a:prstGeom prst="rect">
            <a:avLst/>
          </a:prstGeom>
        </p:spPr>
      </p:pic>
      <p:sp>
        <p:nvSpPr>
          <p:cNvPr id="13" name="Text 7"/>
          <p:cNvSpPr/>
          <p:nvPr/>
        </p:nvSpPr>
        <p:spPr>
          <a:xfrm>
            <a:off x="1427480" y="3786584"/>
            <a:ext cx="404002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A17"/>
                </a:solidFill>
                <a:latin typeface="Hanken Grotesk" pitchFamily="34" charset="0"/>
                <a:ea typeface="Hanken Grotesk" pitchFamily="34" charset="-122"/>
                <a:cs typeface="Hanken Grotesk" pitchFamily="34" charset="-120"/>
              </a:rPr>
              <a:t>WhatsApp messages in Somali and English</a:t>
            </a:r>
            <a:endParaRPr lang="en-US" sz="1400" dirty="0"/>
          </a:p>
        </p:txBody>
      </p:sp>
      <p:pic>
        <p:nvPicPr>
          <p:cNvPr id="14" name="Image 4" descr="CheckCircle">    </p:cNvPr>
          <p:cNvPicPr>
            <a:picLocks noChangeAspect="1"/>
          </p:cNvPicPr>
          <p:nvPr/>
        </p:nvPicPr>
        <p:blipFill>
          <a:blip r:embed="rId5"/>
          <a:srcRect l="0" r="0" t="0" b="0"/>
          <a:stretch/>
        </p:blipFill>
        <p:spPr>
          <a:xfrm>
            <a:off x="1097280" y="4185369"/>
            <a:ext cx="228600" cy="228600"/>
          </a:xfrm>
          <a:prstGeom prst="rect">
            <a:avLst/>
          </a:prstGeom>
        </p:spPr>
      </p:pic>
      <p:sp>
        <p:nvSpPr>
          <p:cNvPr id="15" name="Text 8"/>
          <p:cNvSpPr/>
          <p:nvPr/>
        </p:nvSpPr>
        <p:spPr>
          <a:xfrm>
            <a:off x="1427480" y="4175212"/>
            <a:ext cx="255889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A17"/>
                </a:solidFill>
                <a:latin typeface="Hanken Grotesk" pitchFamily="34" charset="0"/>
                <a:ea typeface="Hanken Grotesk" pitchFamily="34" charset="-122"/>
                <a:cs typeface="Hanken Grotesk" pitchFamily="34" charset="-120"/>
              </a:rPr>
              <a:t>Event report, PDF and CSV</a:t>
            </a:r>
            <a:endParaRPr lang="en-US" sz="1400" dirty="0"/>
          </a:p>
        </p:txBody>
      </p:sp>
      <p:sp>
        <p:nvSpPr>
          <p:cNvPr id="16" name="Shape 9"/>
          <p:cNvSpPr/>
          <p:nvPr/>
        </p:nvSpPr>
        <p:spPr>
          <a:xfrm>
            <a:off x="6226175" y="1925402"/>
            <a:ext cx="5149850" cy="2780030"/>
          </a:xfrm>
          <a:prstGeom prst="roundRect">
            <a:avLst>
              <a:gd name="adj" fmla="val 4454"/>
            </a:avLst>
          </a:prstGeom>
          <a:solidFill>
            <a:srgbClr val="FDFEFD"/>
          </a:solidFill>
          <a:ln w="6350">
            <a:solidFill>
              <a:srgbClr val="DCE3DF"/>
            </a:solidFill>
            <a:prstDash val="solid"/>
          </a:ln>
        </p:spPr>
      </p:sp>
      <p:sp>
        <p:nvSpPr>
          <p:cNvPr id="17" name="Text 10"/>
          <p:cNvSpPr/>
          <p:nvPr/>
        </p:nvSpPr>
        <p:spPr>
          <a:xfrm>
            <a:off x="6507480" y="2206712"/>
            <a:ext cx="472485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A5130"/>
                </a:solidFill>
                <a:latin typeface="Hanken Grotesk" pitchFamily="34" charset="0"/>
                <a:ea typeface="Hanken Grotesk" pitchFamily="34" charset="-122"/>
                <a:cs typeface="Hanken Grotesk" pitchFamily="34" charset="-120"/>
              </a:rPr>
              <a:t>Before 27 October</a:t>
            </a:r>
            <a:endParaRPr lang="en-US" sz="1800" dirty="0"/>
          </a:p>
        </p:txBody>
      </p:sp>
      <p:pic>
        <p:nvPicPr>
          <p:cNvPr id="18" name="Image 5" descr="Settings">    </p:cNvPr>
          <p:cNvPicPr>
            <a:picLocks noChangeAspect="1"/>
          </p:cNvPicPr>
          <p:nvPr/>
        </p:nvPicPr>
        <p:blipFill>
          <a:blip r:embed="rId6"/>
          <a:srcRect l="0" r="0" t="0" b="0"/>
          <a:stretch/>
        </p:blipFill>
        <p:spPr>
          <a:xfrm>
            <a:off x="6507480" y="2630884"/>
            <a:ext cx="228600" cy="228600"/>
          </a:xfrm>
          <a:prstGeom prst="rect">
            <a:avLst/>
          </a:prstGeom>
        </p:spPr>
      </p:pic>
      <p:sp>
        <p:nvSpPr>
          <p:cNvPr id="19" name="Text 11"/>
          <p:cNvSpPr/>
          <p:nvPr/>
        </p:nvSpPr>
        <p:spPr>
          <a:xfrm>
            <a:off x="6837680" y="2620727"/>
            <a:ext cx="387362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A17"/>
                </a:solidFill>
                <a:latin typeface="Hanken Grotesk" pitchFamily="34" charset="0"/>
                <a:ea typeface="Hanken Grotesk" pitchFamily="34" charset="-122"/>
                <a:cs typeface="Hanken Grotesk" pitchFamily="34" charset="-120"/>
              </a:rPr>
              <a:t>Set the event: hours and desk WhatsApp</a:t>
            </a:r>
            <a:endParaRPr lang="en-US" sz="1400" dirty="0"/>
          </a:p>
        </p:txBody>
      </p:sp>
      <p:pic>
        <p:nvPicPr>
          <p:cNvPr id="20" name="Image 6" descr="Users">    </p:cNvPr>
          <p:cNvPicPr>
            <a:picLocks noChangeAspect="1"/>
          </p:cNvPicPr>
          <p:nvPr/>
        </p:nvPicPr>
        <p:blipFill>
          <a:blip r:embed="rId7"/>
          <a:srcRect l="0" r="0" t="0" b="0"/>
          <a:stretch/>
        </p:blipFill>
        <p:spPr>
          <a:xfrm>
            <a:off x="6507480" y="3019512"/>
            <a:ext cx="228600" cy="228600"/>
          </a:xfrm>
          <a:prstGeom prst="rect">
            <a:avLst/>
          </a:prstGeom>
        </p:spPr>
      </p:pic>
      <p:sp>
        <p:nvSpPr>
          <p:cNvPr id="21" name="Text 12"/>
          <p:cNvSpPr/>
          <p:nvPr/>
        </p:nvSpPr>
        <p:spPr>
          <a:xfrm>
            <a:off x="6837680" y="3009342"/>
            <a:ext cx="263566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A17"/>
                </a:solidFill>
                <a:latin typeface="Hanken Grotesk" pitchFamily="34" charset="0"/>
                <a:ea typeface="Hanken Grotesk" pitchFamily="34" charset="-122"/>
                <a:cs typeface="Hanken Grotesk" pitchFamily="34" charset="-120"/>
              </a:rPr>
              <a:t>Add the volunteer accounts</a:t>
            </a:r>
            <a:endParaRPr lang="en-US" sz="1400" dirty="0"/>
          </a:p>
        </p:txBody>
      </p:sp>
      <p:pic>
        <p:nvPicPr>
          <p:cNvPr id="22" name="Image 7" descr="Link">    </p:cNvPr>
          <p:cNvPicPr>
            <a:picLocks noChangeAspect="1"/>
          </p:cNvPicPr>
          <p:nvPr/>
        </p:nvPicPr>
        <p:blipFill>
          <a:blip r:embed="rId8"/>
          <a:srcRect l="0" r="0" t="0" b="0"/>
          <a:stretch/>
        </p:blipFill>
        <p:spPr>
          <a:xfrm>
            <a:off x="6507480" y="3408127"/>
            <a:ext cx="228600" cy="228600"/>
          </a:xfrm>
          <a:prstGeom prst="rect">
            <a:avLst/>
          </a:prstGeom>
        </p:spPr>
      </p:pic>
      <p:sp>
        <p:nvSpPr>
          <p:cNvPr id="23" name="Text 13"/>
          <p:cNvSpPr/>
          <p:nvPr/>
        </p:nvSpPr>
        <p:spPr>
          <a:xfrm>
            <a:off x="6837680" y="3397969"/>
            <a:ext cx="377609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A17"/>
                </a:solidFill>
                <a:latin typeface="Hanken Grotesk" pitchFamily="34" charset="0"/>
                <a:ea typeface="Hanken Grotesk" pitchFamily="34" charset="-122"/>
                <a:cs typeface="Hanken Grotesk" pitchFamily="34" charset="-120"/>
              </a:rPr>
              <a:t>Share the registration link with students</a:t>
            </a:r>
            <a:endParaRPr lang="en-US" sz="1400" dirty="0"/>
          </a:p>
        </p:txBody>
      </p:sp>
      <p:pic>
        <p:nvPicPr>
          <p:cNvPr id="24" name="Image 8" descr="Chat">    </p:cNvPr>
          <p:cNvPicPr>
            <a:picLocks noChangeAspect="1"/>
          </p:cNvPicPr>
          <p:nvPr/>
        </p:nvPicPr>
        <p:blipFill>
          <a:blip r:embed="rId9"/>
          <a:srcRect l="0" r="0" t="0" b="0"/>
          <a:stretch/>
        </p:blipFill>
        <p:spPr>
          <a:xfrm>
            <a:off x="6507480" y="3796742"/>
            <a:ext cx="228600" cy="228600"/>
          </a:xfrm>
          <a:prstGeom prst="rect">
            <a:avLst/>
          </a:prstGeom>
        </p:spPr>
      </p:pic>
      <p:sp>
        <p:nvSpPr>
          <p:cNvPr id="25" name="Text 14"/>
          <p:cNvSpPr/>
          <p:nvPr/>
        </p:nvSpPr>
        <p:spPr>
          <a:xfrm>
            <a:off x="6837680" y="3786584"/>
            <a:ext cx="399240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A17"/>
                </a:solidFill>
                <a:latin typeface="Hanken Grotesk" pitchFamily="34" charset="0"/>
                <a:ea typeface="Hanken Grotesk" pitchFamily="34" charset="-122"/>
                <a:cs typeface="Hanken Grotesk" pitchFamily="34" charset="-120"/>
              </a:rPr>
              <a:t>Native-speaker check of Somali messages</a:t>
            </a:r>
            <a:endParaRPr lang="en-US" sz="1400" dirty="0"/>
          </a:p>
        </p:txBody>
      </p:sp>
      <p:pic>
        <p:nvPicPr>
          <p:cNvPr id="26" name="Image 9" descr="Lock">    </p:cNvPr>
          <p:cNvPicPr>
            <a:picLocks noChangeAspect="1"/>
          </p:cNvPicPr>
          <p:nvPr/>
        </p:nvPicPr>
        <p:blipFill>
          <a:blip r:embed="rId10"/>
          <a:srcRect l="0" r="0" t="0" b="0"/>
          <a:stretch/>
        </p:blipFill>
        <p:spPr>
          <a:xfrm>
            <a:off x="6507480" y="4185369"/>
            <a:ext cx="228600" cy="228600"/>
          </a:xfrm>
          <a:prstGeom prst="rect">
            <a:avLst/>
          </a:prstGeom>
        </p:spPr>
      </p:pic>
      <p:sp>
        <p:nvSpPr>
          <p:cNvPr id="27" name="Text 15"/>
          <p:cNvSpPr/>
          <p:nvPr/>
        </p:nvSpPr>
        <p:spPr>
          <a:xfrm>
            <a:off x="6837680" y="4175212"/>
            <a:ext cx="36717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A17"/>
                </a:solidFill>
                <a:latin typeface="Hanken Grotesk" pitchFamily="34" charset="0"/>
                <a:ea typeface="Hanken Grotesk" pitchFamily="34" charset="-122"/>
                <a:cs typeface="Hanken Grotesk" pitchFamily="34" charset="-120"/>
              </a:rPr>
              <a:t>Strong admin password on the live site</a:t>
            </a:r>
            <a:endParaRPr lang="en-US" sz="1400" dirty="0"/>
          </a:p>
        </p:txBody>
      </p:sp>
      <p:sp>
        <p:nvSpPr>
          <p:cNvPr id="28" name="Text 16"/>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70"/>
                </a:solidFill>
                <a:latin typeface="IBM Plex Mono" pitchFamily="49" charset="0"/>
                <a:ea typeface="IBM Plex Mono" pitchFamily="49" charset="-122"/>
                <a:cs typeface="IBM Plex Mono" pitchFamily="49" charset="-120"/>
              </a:rPr>
              <a:t>SIMADRepair · Faculty of Computing</a:t>
            </a:r>
            <a:endParaRPr lang="en-US" sz="1200" dirty="0"/>
          </a:p>
        </p:txBody>
      </p:sp>
      <p:sp>
        <p:nvSpPr>
          <p:cNvPr id="29" name="Text 17"/>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770"/>
                </a:solidFill>
                <a:latin typeface="IBM Plex Mono" pitchFamily="49" charset="0"/>
                <a:ea typeface="IBM Plex Mono" pitchFamily="49" charset="-122"/>
                <a:cs typeface="IBM Plex Mono" pitchFamily="49"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CFB"/>
        </a:solidFill>
      </p:bgPr>
    </p:bg>
    <p:spTree>
      <p:nvGrpSpPr>
        <p:cNvPr id="1" name=""/>
        <p:cNvGrpSpPr/>
        <p:nvPr/>
      </p:nvGrpSpPr>
      <p:grpSpPr>
        <a:xfrm>
          <a:off x="0" y="0"/>
          <a:ext cx="0" cy="0"/>
          <a:chOff x="0" y="0"/>
          <a:chExt cx="0" cy="0"/>
        </a:xfrm>
      </p:grpSpPr>
      <p:sp>
        <p:nvSpPr>
          <p:cNvPr id="2" name="Text 0"/>
          <p:cNvSpPr/>
          <p:nvPr/>
        </p:nvSpPr>
        <p:spPr>
          <a:xfrm>
            <a:off x="812800" y="1471848"/>
            <a:ext cx="5624830"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F7A45"/>
                </a:solidFill>
                <a:latin typeface="IBM Plex Mono" pitchFamily="49" charset="0"/>
                <a:ea typeface="IBM Plex Mono" pitchFamily="49" charset="-122"/>
                <a:cs typeface="IBM Plex Mono" pitchFamily="49" charset="-120"/>
              </a:rPr>
              <a:t>BUILT BY</a:t>
            </a:r>
            <a:endParaRPr lang="en-US" sz="1200" dirty="0"/>
          </a:p>
        </p:txBody>
      </p:sp>
      <p:sp>
        <p:nvSpPr>
          <p:cNvPr id="3" name="Text 1"/>
          <p:cNvSpPr/>
          <p:nvPr>
            <p:ph type="title"/>
          </p:nvPr>
        </p:nvSpPr>
        <p:spPr>
          <a:xfrm>
            <a:off x="812800" y="1786818"/>
            <a:ext cx="5624830" cy="903129"/>
          </a:xfrm>
          <a:prstGeom prst="rect">
            <a:avLst/>
          </a:prstGeom>
          <a:noFill/>
          <a:ln/>
        </p:spPr>
        <p:txBody>
          <a:bodyPr wrap="square" lIns="0" tIns="0" rIns="0" bIns="0" rtlCol="0" anchor="t">
            <a:normAutofit/>
          </a:bodyPr>
          <a:lstStyle/>
          <a:p>
            <a:pPr algn="l" indent="0" marL="0">
              <a:lnSpc>
                <a:spcPts val="3456"/>
              </a:lnSpc>
              <a:buNone/>
            </a:pPr>
            <a:r>
              <a:rPr lang="en-US" sz="3200" b="1" i="0" spc="-50" kern="0" dirty="0">
                <a:solidFill>
                  <a:srgbClr val="141A17"/>
                </a:solidFill>
                <a:latin typeface="Hanken Grotesk" pitchFamily="34" charset="0"/>
                <a:ea typeface="Hanken Grotesk" pitchFamily="34" charset="-122"/>
                <a:cs typeface="Hanken Grotesk" pitchFamily="34" charset="-120"/>
              </a:rPr>
              <a:t>Faculty of Computing Engineering Team</a:t>
            </a:r>
            <a:endParaRPr lang="en-US" sz="3200" dirty="0"/>
          </a:p>
        </p:txBody>
      </p:sp>
      <p:pic>
        <p:nvPicPr>
          <p:cNvPr id="4" name="Image 0" descr="Portrait of Eng. Muscab Abdirashid">    </p:cNvPr>
          <p:cNvPicPr>
            <a:picLocks noChangeAspect="1"/>
          </p:cNvPicPr>
          <p:nvPr/>
        </p:nvPicPr>
        <p:blipFill>
          <a:blip r:embed="rId1"/>
          <a:srcRect l="1665" r="1665" t="0" b="0"/>
          <a:stretch/>
        </p:blipFill>
        <p:spPr>
          <a:xfrm>
            <a:off x="812800" y="2982044"/>
            <a:ext cx="638413" cy="660400"/>
          </a:xfrm>
          <a:prstGeom prst="roundRect">
            <a:avLst>
              <a:gd name="adj" fmla="val 50000"/>
            </a:avLst>
          </a:prstGeom>
        </p:spPr>
      </p:pic>
      <p:sp>
        <p:nvSpPr>
          <p:cNvPr id="5" name="Text 2"/>
          <p:cNvSpPr/>
          <p:nvPr/>
        </p:nvSpPr>
        <p:spPr>
          <a:xfrm>
            <a:off x="1578213" y="2943944"/>
            <a:ext cx="1919391"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A17"/>
                </a:solidFill>
                <a:latin typeface="Hanken Grotesk" pitchFamily="34" charset="0"/>
                <a:ea typeface="Hanken Grotesk" pitchFamily="34" charset="-122"/>
                <a:cs typeface="Hanken Grotesk" pitchFamily="34" charset="-120"/>
              </a:rPr>
              <a:t>Eng. Muscab Abdirashid</a:t>
            </a:r>
            <a:endParaRPr lang="en-US" sz="1400" dirty="0"/>
          </a:p>
        </p:txBody>
      </p:sp>
      <p:sp>
        <p:nvSpPr>
          <p:cNvPr id="6" name="Text 3"/>
          <p:cNvSpPr/>
          <p:nvPr/>
        </p:nvSpPr>
        <p:spPr>
          <a:xfrm>
            <a:off x="1578213" y="3467187"/>
            <a:ext cx="191939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43"/>
                </a:solidFill>
                <a:latin typeface="Hanken Grotesk" pitchFamily="34" charset="0"/>
                <a:ea typeface="Hanken Grotesk" pitchFamily="34" charset="-122"/>
                <a:cs typeface="Hanken Grotesk" pitchFamily="34" charset="-120"/>
              </a:rPr>
              <a:t>Team Lead Engineer</a:t>
            </a:r>
            <a:endParaRPr lang="en-US" sz="1200" dirty="0"/>
          </a:p>
        </p:txBody>
      </p:sp>
      <p:pic>
        <p:nvPicPr>
          <p:cNvPr id="7" name="Image 1" descr="Portrait of Eng. Ishak Abdiaziz">    </p:cNvPr>
          <p:cNvPicPr>
            <a:picLocks noChangeAspect="1"/>
          </p:cNvPicPr>
          <p:nvPr/>
        </p:nvPicPr>
        <p:blipFill>
          <a:blip r:embed="rId2"/>
          <a:srcRect l="2049" r="2049" t="0" b="0"/>
          <a:stretch/>
        </p:blipFill>
        <p:spPr>
          <a:xfrm>
            <a:off x="3644900" y="2982044"/>
            <a:ext cx="633333" cy="660400"/>
          </a:xfrm>
          <a:prstGeom prst="roundRect">
            <a:avLst>
              <a:gd name="adj" fmla="val 50000"/>
            </a:avLst>
          </a:prstGeom>
        </p:spPr>
      </p:pic>
      <p:sp>
        <p:nvSpPr>
          <p:cNvPr id="8" name="Text 4"/>
          <p:cNvSpPr/>
          <p:nvPr/>
        </p:nvSpPr>
        <p:spPr>
          <a:xfrm>
            <a:off x="4405233" y="2961717"/>
            <a:ext cx="192462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A17"/>
                </a:solidFill>
                <a:latin typeface="Hanken Grotesk" pitchFamily="34" charset="0"/>
                <a:ea typeface="Hanken Grotesk" pitchFamily="34" charset="-122"/>
                <a:cs typeface="Hanken Grotesk" pitchFamily="34" charset="-120"/>
              </a:rPr>
              <a:t>Eng. Ishak Abdiaziz</a:t>
            </a:r>
            <a:endParaRPr lang="en-US" sz="1400" dirty="0"/>
          </a:p>
        </p:txBody>
      </p:sp>
      <p:sp>
        <p:nvSpPr>
          <p:cNvPr id="9" name="Text 5"/>
          <p:cNvSpPr/>
          <p:nvPr/>
        </p:nvSpPr>
        <p:spPr>
          <a:xfrm>
            <a:off x="4405233" y="3236044"/>
            <a:ext cx="192462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43"/>
                </a:solidFill>
                <a:latin typeface="Hanken Grotesk" pitchFamily="34" charset="0"/>
                <a:ea typeface="Hanken Grotesk" pitchFamily="34" charset="-122"/>
                <a:cs typeface="Hanken Grotesk" pitchFamily="34" charset="-120"/>
              </a:rPr>
              <a:t>Full Stack Software Engineer</a:t>
            </a:r>
            <a:endParaRPr lang="en-US" sz="1200" dirty="0"/>
          </a:p>
        </p:txBody>
      </p:sp>
      <p:pic>
        <p:nvPicPr>
          <p:cNvPr id="10" name="Image 2" descr="Portrait of Eng. Ruweydo Hassan">    </p:cNvPr>
          <p:cNvPicPr>
            <a:picLocks noChangeAspect="1"/>
          </p:cNvPicPr>
          <p:nvPr/>
        </p:nvPicPr>
        <p:blipFill>
          <a:blip r:embed="rId3"/>
          <a:srcRect l="0" r="0" t="0" b="0"/>
          <a:stretch/>
        </p:blipFill>
        <p:spPr>
          <a:xfrm>
            <a:off x="812800" y="3947244"/>
            <a:ext cx="660400" cy="660400"/>
          </a:xfrm>
          <a:prstGeom prst="ellipse">
            <a:avLst/>
          </a:prstGeom>
        </p:spPr>
      </p:pic>
      <p:sp>
        <p:nvSpPr>
          <p:cNvPr id="11" name="Text 6"/>
          <p:cNvSpPr/>
          <p:nvPr/>
        </p:nvSpPr>
        <p:spPr>
          <a:xfrm>
            <a:off x="1600200" y="4033602"/>
            <a:ext cx="20447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A17"/>
                </a:solidFill>
                <a:latin typeface="Hanken Grotesk" pitchFamily="34" charset="0"/>
                <a:ea typeface="Hanken Grotesk" pitchFamily="34" charset="-122"/>
                <a:cs typeface="Hanken Grotesk" pitchFamily="34" charset="-120"/>
              </a:rPr>
              <a:t>Eng. Ruweydo Hassan</a:t>
            </a:r>
            <a:endParaRPr lang="en-US" sz="1400" dirty="0"/>
          </a:p>
        </p:txBody>
      </p:sp>
      <p:sp>
        <p:nvSpPr>
          <p:cNvPr id="12" name="Text 7"/>
          <p:cNvSpPr/>
          <p:nvPr/>
        </p:nvSpPr>
        <p:spPr>
          <a:xfrm>
            <a:off x="1600200" y="4307917"/>
            <a:ext cx="1799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43"/>
                </a:solidFill>
                <a:latin typeface="Hanken Grotesk" pitchFamily="34" charset="0"/>
                <a:ea typeface="Hanken Grotesk" pitchFamily="34" charset="-122"/>
                <a:cs typeface="Hanken Grotesk" pitchFamily="34" charset="-120"/>
              </a:rPr>
              <a:t>Software Developer</a:t>
            </a:r>
            <a:endParaRPr lang="en-US" sz="1200" dirty="0"/>
          </a:p>
        </p:txBody>
      </p:sp>
      <p:pic>
        <p:nvPicPr>
          <p:cNvPr id="13" name="Image 3" descr="Portrait of Eng. Abdulsalam Hassan">    </p:cNvPr>
          <p:cNvPicPr>
            <a:picLocks noChangeAspect="1"/>
          </p:cNvPicPr>
          <p:nvPr/>
        </p:nvPicPr>
        <p:blipFill>
          <a:blip r:embed="rId4"/>
          <a:srcRect l="2398" r="2398" t="0" b="0"/>
          <a:stretch/>
        </p:blipFill>
        <p:spPr>
          <a:xfrm>
            <a:off x="3644900" y="3947244"/>
            <a:ext cx="628729" cy="660400"/>
          </a:xfrm>
          <a:prstGeom prst="roundRect">
            <a:avLst>
              <a:gd name="adj" fmla="val 50000"/>
            </a:avLst>
          </a:prstGeom>
        </p:spPr>
      </p:pic>
      <p:sp>
        <p:nvSpPr>
          <p:cNvPr id="14" name="Text 8"/>
          <p:cNvSpPr/>
          <p:nvPr/>
        </p:nvSpPr>
        <p:spPr>
          <a:xfrm>
            <a:off x="4400629" y="3909144"/>
            <a:ext cx="1929366"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A17"/>
                </a:solidFill>
                <a:latin typeface="Hanken Grotesk" pitchFamily="34" charset="0"/>
                <a:ea typeface="Hanken Grotesk" pitchFamily="34" charset="-122"/>
                <a:cs typeface="Hanken Grotesk" pitchFamily="34" charset="-120"/>
              </a:rPr>
              <a:t>Eng. Abdulsalam Hassan</a:t>
            </a:r>
            <a:endParaRPr lang="en-US" sz="1400" dirty="0"/>
          </a:p>
        </p:txBody>
      </p:sp>
      <p:sp>
        <p:nvSpPr>
          <p:cNvPr id="15" name="Text 9"/>
          <p:cNvSpPr/>
          <p:nvPr/>
        </p:nvSpPr>
        <p:spPr>
          <a:xfrm>
            <a:off x="4400629" y="4432387"/>
            <a:ext cx="19293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4A43"/>
                </a:solidFill>
                <a:latin typeface="Hanken Grotesk" pitchFamily="34" charset="0"/>
                <a:ea typeface="Hanken Grotesk" pitchFamily="34" charset="-122"/>
                <a:cs typeface="Hanken Grotesk" pitchFamily="34" charset="-120"/>
              </a:rPr>
              <a:t>Backend &amp; AI Engineer</a:t>
            </a:r>
            <a:endParaRPr lang="en-US" sz="1200" dirty="0"/>
          </a:p>
        </p:txBody>
      </p:sp>
      <p:sp>
        <p:nvSpPr>
          <p:cNvPr id="16" name="Text 10"/>
          <p:cNvSpPr/>
          <p:nvPr/>
        </p:nvSpPr>
        <p:spPr>
          <a:xfrm>
            <a:off x="812800" y="4925144"/>
            <a:ext cx="5624830"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C4A43"/>
                </a:solidFill>
                <a:latin typeface="Hanken Grotesk" pitchFamily="34" charset="0"/>
                <a:ea typeface="Hanken Grotesk" pitchFamily="34" charset="-122"/>
                <a:cs typeface="Hanken Grotesk" pitchFamily="34" charset="-120"/>
              </a:rPr>
              <a:t>Delivered at the desk by Faculty of Computing student volunteers.</a:t>
            </a:r>
            <a:endParaRPr lang="en-US" sz="1400" dirty="0"/>
          </a:p>
        </p:txBody>
      </p:sp>
      <p:pic>
        <p:nvPicPr>
          <p:cNvPr id="17" name="Image 4" descr="Volunteers and Faculty of Computing staff working together at the desk">    </p:cNvPr>
          <p:cNvPicPr>
            <a:picLocks noChangeAspect="1"/>
          </p:cNvPicPr>
          <p:nvPr/>
        </p:nvPicPr>
        <p:blipFill>
          <a:blip r:embed="rId5"/>
          <a:srcRect l="17564" r="17564" t="0" b="0"/>
          <a:stretch/>
        </p:blipFill>
        <p:spPr>
          <a:xfrm>
            <a:off x="6680200" y="914400"/>
            <a:ext cx="4699000" cy="4826000"/>
          </a:xfrm>
          <a:prstGeom prst="roundRect">
            <a:avLst>
              <a:gd name="adj" fmla="val 3243"/>
            </a:avLst>
          </a:prstGeom>
        </p:spPr>
      </p:pic>
      <p:sp>
        <p:nvSpPr>
          <p:cNvPr id="18" name="Text 11"/>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770"/>
                </a:solidFill>
                <a:latin typeface="IBM Plex Mono" pitchFamily="49" charset="0"/>
                <a:ea typeface="IBM Plex Mono" pitchFamily="49" charset="-122"/>
                <a:cs typeface="IBM Plex Mono" pitchFamily="49" charset="-120"/>
              </a:rPr>
              <a:t>SIMADRepair · Faculty of Computing</a:t>
            </a:r>
            <a:endParaRPr lang="en-US" sz="1200" dirty="0"/>
          </a:p>
        </p:txBody>
      </p:sp>
      <p:sp>
        <p:nvSpPr>
          <p:cNvPr id="19" name="Text 12"/>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770"/>
                </a:solidFill>
                <a:latin typeface="IBM Plex Mono" pitchFamily="49" charset="0"/>
                <a:ea typeface="IBM Plex Mono" pitchFamily="49" charset="-122"/>
                <a:cs typeface="IBM Plex Mono" pitchFamily="49"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2A1C"/>
        </a:solidFill>
      </p:bgPr>
    </p:bg>
    <p:spTree>
      <p:nvGrpSpPr>
        <p:cNvPr id="1" name=""/>
        <p:cNvGrpSpPr/>
        <p:nvPr/>
      </p:nvGrpSpPr>
      <p:grpSpPr>
        <a:xfrm>
          <a:off x="0" y="0"/>
          <a:ext cx="0" cy="0"/>
          <a:chOff x="0" y="0"/>
          <a:chExt cx="0" cy="0"/>
        </a:xfrm>
      </p:grpSpPr>
      <p:pic>
        <p:nvPicPr>
          <p:cNvPr id="2" name="Image 0" descr="Student volunteers checking laptops at the desk on Main Campus">    </p:cNvPr>
          <p:cNvPicPr>
            <a:picLocks noChangeAspect="1"/>
          </p:cNvPicPr>
          <p:nvPr/>
        </p:nvPicPr>
        <p:blipFill>
          <a:blip r:embed="rId1"/>
          <a:srcRect l="0" r="0" t="7786" b="7786"/>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0A5130">
                  <a:alpha val="97000"/>
                </a:srgbClr>
              </a:gs>
              <a:gs pos="50000">
                <a:srgbClr val="0F7A45">
                  <a:alpha val="88000"/>
                </a:srgbClr>
              </a:gs>
              <a:gs pos="100000">
                <a:srgbClr val="0F7A45">
                  <a:alpha val="40000"/>
                </a:srgbClr>
              </a:gs>
            </a:gsLst>
            <a:lin ang="0" scaled="0"/>
          </a:gradFill>
          <a:ln/>
        </p:spPr>
      </p:sp>
      <p:sp>
        <p:nvSpPr>
          <p:cNvPr id="4" name="Text 1"/>
          <p:cNvSpPr/>
          <p:nvPr>
            <p:ph type="title"/>
          </p:nvPr>
        </p:nvSpPr>
        <p:spPr>
          <a:xfrm>
            <a:off x="812800" y="4222514"/>
            <a:ext cx="10883392" cy="880348"/>
          </a:xfrm>
          <a:prstGeom prst="rect">
            <a:avLst/>
          </a:prstGeom>
          <a:noFill/>
          <a:ln/>
        </p:spPr>
        <p:txBody>
          <a:bodyPr wrap="square" lIns="0" tIns="0" rIns="0" bIns="0" rtlCol="0" anchor="t">
            <a:normAutofit/>
          </a:bodyPr>
          <a:lstStyle/>
          <a:p>
            <a:pPr algn="l" indent="0" marL="0">
              <a:lnSpc>
                <a:spcPts val="6732"/>
              </a:lnSpc>
              <a:buNone/>
            </a:pPr>
            <a:r>
              <a:rPr lang="en-US" sz="6600" b="1" i="0" spc="-150" kern="0" dirty="0">
                <a:solidFill>
                  <a:srgbClr val="FBFCFB"/>
                </a:solidFill>
                <a:latin typeface="Hanken Grotesk" pitchFamily="34" charset="0"/>
                <a:ea typeface="Hanken Grotesk" pitchFamily="34" charset="-122"/>
                <a:cs typeface="Hanken Grotesk" pitchFamily="34" charset="-120"/>
              </a:rPr>
              <a:t>Thank you</a:t>
            </a:r>
            <a:endParaRPr lang="en-US" sz="6600" dirty="0"/>
          </a:p>
        </p:txBody>
      </p:sp>
      <p:sp>
        <p:nvSpPr>
          <p:cNvPr id="5" name="Text 2"/>
          <p:cNvSpPr/>
          <p:nvPr/>
        </p:nvSpPr>
        <p:spPr>
          <a:xfrm>
            <a:off x="812800" y="5255258"/>
            <a:ext cx="7194550" cy="38862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E3F2EA"/>
                </a:solidFill>
                <a:latin typeface="Hanken Grotesk" pitchFamily="34" charset="0"/>
                <a:ea typeface="Hanken Grotesk" pitchFamily="34" charset="-122"/>
                <a:cs typeface="Hanken Grotesk" pitchFamily="34" charset="-120"/>
              </a:rPr>
              <a:t>Questions and feedback are welcome.</a:t>
            </a:r>
            <a:endParaRPr lang="en-US" sz="2200" dirty="0"/>
          </a:p>
        </p:txBody>
      </p:sp>
      <p:sp>
        <p:nvSpPr>
          <p:cNvPr id="6" name="Text 3"/>
          <p:cNvSpPr/>
          <p:nvPr/>
        </p:nvSpPr>
        <p:spPr>
          <a:xfrm>
            <a:off x="812800" y="5796285"/>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E5CF"/>
                </a:solidFill>
                <a:latin typeface="IBM Plex Mono" pitchFamily="49" charset="0"/>
                <a:ea typeface="IBM Plex Mono" pitchFamily="49" charset="-122"/>
                <a:cs typeface="IBM Plex Mono" pitchFamily="49" charset="-120"/>
              </a:rPr>
              <a:t>[website link] · Computer Maintenance Program · 27–28 October</a:t>
            </a:r>
            <a:endParaRPr lang="en-US" sz="1400" dirty="0"/>
          </a:p>
        </p:txBody>
      </p:sp>
    </p:spTree>
  </p:cSld>
  <p:clrMapOvr>
    <a:masterClrMapping/>
  </p:clrMapOvr>
</p:sld>
</file>

<file path=ppt/theme/theme1.xml><?xml version="1.0" encoding="utf-8"?>
<a:theme xmlns:a="http://schemas.openxmlformats.org/drawingml/2006/main" name="SIMADRepair Leadership Briefing">
  <a:themeElements>
    <a:clrScheme name="SIMADRepair Leadership Briefing">
      <a:dk1>
        <a:srgbClr val="6B7770"/>
      </a:dk1>
      <a:lt1>
        <a:srgbClr val="FBFCFB"/>
      </a:lt1>
      <a:dk2>
        <a:srgbClr val="8F9893"/>
      </a:dk2>
      <a:lt2>
        <a:srgbClr val="EDEFED"/>
      </a:lt2>
      <a:accent1>
        <a:srgbClr val="0F7A45"/>
      </a:accent1>
      <a:accent2>
        <a:srgbClr val="0A5130"/>
      </a:accent2>
      <a:accent3>
        <a:srgbClr val="141A17"/>
      </a:accent3>
      <a:accent4>
        <a:srgbClr val="3C4A43"/>
      </a:accent4>
      <a:accent5>
        <a:srgbClr val="BFE5CF"/>
      </a:accent5>
      <a:accent6>
        <a:srgbClr val="0B2A1C"/>
      </a:accent6>
      <a:hlink>
        <a:srgbClr val="0563C1"/>
      </a:hlink>
      <a:folHlink>
        <a:srgbClr val="954F72"/>
      </a:folHlink>
    </a:clrScheme>
    <a:fontScheme name="SIMADRepair Leadership Briefing">
      <a:majorFont>
        <a:latin typeface="Hanken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SIMADRepair Leadership Briefing</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Hanken Grotesk
Copyright 2021 The Hanken Grotesk Project Authors (https://github.com/marcologous/hanken-grotesk)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2026-10-27T12:10:44Z</dcterms:created>
  <dcterms:modified xsi:type="dcterms:W3CDTF">2026-10-27T12:10:44Z</dcterms:modified>
</cp:coreProperties>
</file>